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3adfd09fab98de25_5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h3adfd09fab98de25_5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Esse é o projeto da lista de amigos, com a parte de login que a Agenda 8 ensina.</a:t>
            </a:r>
            <a:endParaRPr/>
          </a:p>
        </p:txBody>
      </p:sp>
      <p:sp>
        <p:nvSpPr>
          <p:cNvPr id="55" name="Google Shape;55;h3adfd09fab98de25_5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3adfd09fab98de25_5_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h3adfd09fab98de25_5_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index antigo virou principal.php. O novo index.php é o login.</a:t>
            </a:r>
            <a:endParaRPr/>
          </a:p>
        </p:txBody>
      </p:sp>
      <p:sp>
        <p:nvSpPr>
          <p:cNvPr id="63" name="Google Shape;63;h3adfd09fab98de25_5_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3adfd09fab98de25_5_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h3adfd09fab98de25_5_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nome do banco (pwii) aparece no conexaoBD.php.</a:t>
            </a:r>
            <a:endParaRPr/>
          </a:p>
        </p:txBody>
      </p:sp>
      <p:sp>
        <p:nvSpPr>
          <p:cNvPr id="85" name="Google Shape;85;h3adfd09fab98de25_5_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3adfd09fab98de25_5_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h3adfd09fab98de25_5_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Diferença principal: include só avisa, require para tudo.</a:t>
            </a:r>
            <a:endParaRPr/>
          </a:p>
        </p:txBody>
      </p:sp>
      <p:sp>
        <p:nvSpPr>
          <p:cNvPr id="98" name="Google Shape;98;h3adfd09fab98de25_5_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3adfd09fab98de25_5_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h3adfd09fab98de25_5_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Antes eu copiava a conexão em cada arquivo. Agora uso require_once.</a:t>
            </a:r>
            <a:endParaRPr/>
          </a:p>
        </p:txBody>
      </p:sp>
      <p:sp>
        <p:nvSpPr>
          <p:cNvPr id="105" name="Google Shape;105;h3adfd09fab98de25_5_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3adfd09fab98de25_5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h3adfd09fab98de25_5_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Só se a senha conferir é que a variável de sessão é criada.</a:t>
            </a:r>
            <a:endParaRPr/>
          </a:p>
        </p:txBody>
      </p:sp>
      <p:sp>
        <p:nvSpPr>
          <p:cNvPr id="112" name="Google Shape;112;h3adfd09fab98de25_5_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3adfd09fab98de25_5_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h3adfd09fab98de25_5_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Foi a sessão que resolveu o problema de burlar o login pela URL.</a:t>
            </a:r>
            <a:endParaRPr/>
          </a:p>
        </p:txBody>
      </p:sp>
      <p:sp>
        <p:nvSpPr>
          <p:cNvPr id="126" name="Google Shape;126;h3adfd09fab98de25_5_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3adfd09fab98de25_5_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h3adfd09fab98de25_5_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logout usa unset na variável logado e redireciona com header.</a:t>
            </a:r>
            <a:endParaRPr/>
          </a:p>
        </p:txBody>
      </p:sp>
      <p:sp>
        <p:nvSpPr>
          <p:cNvPr id="133" name="Google Shape;133;h3adfd09fab98de25_5_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3adfd09fab98de25_5_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h3adfd09fab98de25_5_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arquivos Action recebem os dados, rodam o SQL e voltam para a lista.</a:t>
            </a:r>
            <a:endParaRPr/>
          </a:p>
        </p:txBody>
      </p:sp>
      <p:sp>
        <p:nvSpPr>
          <p:cNvPr id="140" name="Google Shape;140;h3adfd09fab98de25_5_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3adfd09fab98de25_5_1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h3adfd09fab98de25_5_10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 projeto só usei sessão. Cookie e hospedagem foram só conteúdo da agenda.</a:t>
            </a:r>
            <a:endParaRPr/>
          </a:p>
        </p:txBody>
      </p:sp>
      <p:sp>
        <p:nvSpPr>
          <p:cNvPr id="167" name="Google Shape;167;h3adfd09fab98de25_5_10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3adfd09fab98de25_5_1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h3adfd09fab98de25_5_1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Hoje a senha fica em texto puro no banco, o que não é seguro.</a:t>
            </a:r>
            <a:endParaRPr/>
          </a:p>
        </p:txBody>
      </p:sp>
      <p:sp>
        <p:nvSpPr>
          <p:cNvPr id="182" name="Google Shape;182;h3adfd09fab98de25_5_1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3adfd09fab98de25_5_1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h3adfd09fab98de25_5_1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Segue o caminho de 1 a 7. Se a senha estiver errada, volta pro login. Se tentar entrar pela URL sem login, cai no acesso negado.</a:t>
            </a:r>
            <a:endParaRPr/>
          </a:p>
        </p:txBody>
      </p:sp>
      <p:sp>
        <p:nvSpPr>
          <p:cNvPr id="194" name="Google Shape;194;h3adfd09fab98de25_5_1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adtec.cps.sp.gov.br/cenario.php?id_aula=1168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200"/>
              <a:buFont typeface="Calibri"/>
              <a:buNone/>
            </a:pPr>
            <a:r>
              <a:rPr b="1" i="0" lang="pt-BR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Agenda 08 - Desenvolvimento de Sistemas II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None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Projeto Lista de Amigos: CRUD com login (PHP e MySQL)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Programação WEB II | Agenda 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000"/>
              <a:buFont typeface="Calibri"/>
              <a:buNone/>
            </a:pPr>
            <a:r>
              <a:rPr b="1" i="0" lang="pt-BR" sz="30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Como o projeto funciona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548640" y="1371600"/>
            <a:ext cx="1828800" cy="146304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/>
        </p:nvSpPr>
        <p:spPr>
          <a:xfrm>
            <a:off x="640080" y="14630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index.php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640080" y="196596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tela de login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2377440" y="18288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2651760" y="1371600"/>
            <a:ext cx="1828800" cy="146304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 txBox="1"/>
          <p:nvPr/>
        </p:nvSpPr>
        <p:spPr>
          <a:xfrm>
            <a:off x="2743200" y="14630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loginAction.php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2743200" y="196596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confere usuário e senha no banco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4480560" y="18288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754880" y="1371600"/>
            <a:ext cx="1828800" cy="146304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4846320" y="14630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principal.php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846320" y="196596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menu com Adicionar e Listar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583680" y="18288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858000" y="1371600"/>
            <a:ext cx="1828800" cy="146304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6949440" y="14630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Telas do CRUD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6949440" y="196596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cadastrar, listar, atualizar e excluir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Tecnologias: </a:t>
            </a:r>
            <a:r>
              <a:rPr b="0" i="0" lang="pt-BR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PHP, MySQL, W3.CSS, Font Awesome e usbwebserver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000"/>
              <a:buFont typeface="Calibri"/>
              <a:buNone/>
            </a:pPr>
            <a:r>
              <a:rPr b="1" i="0" lang="pt-BR" sz="30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Banco de dados: pwii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548640" y="1371600"/>
            <a:ext cx="3840480" cy="173736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4754880" y="1371600"/>
            <a:ext cx="3840480" cy="173736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Tabela amigo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731520" y="187452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Char char="•"/>
            </a:pPr>
            <a:r>
              <a:rPr b="0" i="0" lang="pt-BR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idamigo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Char char="•"/>
            </a:pPr>
            <a:r>
              <a:rPr b="0" i="0" lang="pt-BR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Char char="•"/>
            </a:pPr>
            <a:r>
              <a:rPr b="0" i="0" lang="pt-BR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apelido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Char char="•"/>
            </a:pPr>
            <a:r>
              <a:rPr b="0" i="0" lang="pt-BR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Tabela usuario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4937760" y="187452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Char char="•"/>
            </a:pPr>
            <a:r>
              <a:rPr b="0" i="0" lang="pt-BR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idusuario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Char char="•"/>
            </a:pPr>
            <a:r>
              <a:rPr b="0" i="0" lang="pt-BR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Char char="•"/>
            </a:pPr>
            <a:r>
              <a:rPr b="0" i="0" lang="pt-BR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senha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Usuário de teste: </a:t>
            </a:r>
            <a:r>
              <a:rPr b="0" i="0" lang="pt-BR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gabi / gabi123. É com ele que eu entro no site.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000"/>
              <a:buFont typeface="Calibri"/>
              <a:buNone/>
            </a:pPr>
            <a:r>
              <a:rPr b="1" i="0" lang="pt-BR" sz="30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Importação de arquivos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PHP tem 4 funções para isso: include, include_once, require e require_once.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include: se não achar o arquivo, mostra um aviso e a página continua.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require: se não achar, dá erro fatal e o código para.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"once": quer dizer que o arquivo não é importado duas vezes.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projeto usei o require_once.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000"/>
              <a:buFont typeface="Calibri"/>
              <a:buNone/>
            </a:pPr>
            <a:r>
              <a:rPr b="1" i="0" lang="pt-BR" sz="30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Reaproveitando código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conexaoBD.php: a conexão com o banco fica num arquivo só. Se a senha mudar, altero só ali.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cabecalho.php e rodape.php: o começo e o fim do HTML ficam num lugar só.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verificarAcesso.php: confere se a pessoa fez login. Fica na primeira linha das páginas protegidas.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Resultado: menos código repetido.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000"/>
              <a:buFont typeface="Calibri"/>
              <a:buNone/>
            </a:pPr>
            <a:r>
              <a:rPr b="1" i="0" lang="pt-BR" sz="30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Login passo a passo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548640" y="1280160"/>
            <a:ext cx="4572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AutoNum type="arabicPeriod"/>
            </a:pPr>
            <a:r>
              <a:rPr b="0" i="0" lang="pt-BR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formulário envia nome e senha (POST).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AutoNum type="arabicPeriod"/>
            </a:pPr>
            <a:r>
              <a:rPr b="0" i="0" lang="pt-BR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PHP conecta no banco (conexaoBD).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AutoNum type="arabicPeriod"/>
            </a:pPr>
            <a:r>
              <a:rPr b="0" i="0" lang="pt-BR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Faz o SELECT na tabela usuario.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AutoNum type="arabicPeriod"/>
            </a:pPr>
            <a:r>
              <a:rPr b="0" i="0" lang="pt-BR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Compara a senha digitada com a do banco.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AutoNum type="arabicPeriod"/>
            </a:pPr>
            <a:r>
              <a:rPr b="0" i="0" lang="pt-BR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estiver certa, cria a sessão $_SESSION['logado'].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5486400" y="1280160"/>
            <a:ext cx="3108960" cy="10972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5486400" y="2560320"/>
            <a:ext cx="3108960" cy="109728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FFEB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5623560" y="13533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Senha certa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5623560" y="169164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Aparece "Seja Bem-Vinda" com o link para a principal.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5623560" y="263347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Senha errada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5623560" y="297180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Aparece "Login Inválido!" e volta para o index.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Dica: no campo da senha, usar type="password".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000"/>
              <a:buFont typeface="Calibri"/>
              <a:buNone/>
            </a:pPr>
            <a:r>
              <a:rPr b="1" i="0" lang="pt-BR" sz="30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Sessão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servidor não sabe quem é o usuário entre uma página e outra. A sessão guarda essa informação.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session_start() abre a sessão, e o $_SESSION guarda os dados.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Sem sessão, dava para entrar direto digitando principal.php na URL.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verificarAcesso confere se existe o "logado". Se não existir, manda para o acessoNegado.php.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000"/>
              <a:buFont typeface="Calibri"/>
              <a:buNone/>
            </a:pPr>
            <a:r>
              <a:rPr b="1" i="0" lang="pt-BR" sz="30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Logout e Acesso negado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logoutAction.php: apaga a sessão e volta para o index.php. O botão Logout fica na principal.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acessoNegado.php: mostra a mensagem de acesso negado, com link para o login.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alibri"/>
              <a:buChar char="•"/>
            </a:pPr>
            <a:r>
              <a:rPr b="0" i="0" lang="pt-BR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Resultado: só entra quem fez login.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000"/>
              <a:buFont typeface="Calibri"/>
              <a:buNone/>
            </a:pPr>
            <a:r>
              <a:rPr b="1" i="0" lang="pt-BR" sz="30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CRUD de amigos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548640" y="1280160"/>
            <a:ext cx="1920240" cy="24688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3"/>
          <p:cNvSpPr txBox="1"/>
          <p:nvPr/>
        </p:nvSpPr>
        <p:spPr>
          <a:xfrm>
            <a:off x="548640" y="1325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640080" y="20116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Cadastrar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640080" y="24231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cadastro.php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cadastroAction.php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640080" y="31546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2651760" y="1280160"/>
            <a:ext cx="1920240" cy="24688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 txBox="1"/>
          <p:nvPr/>
        </p:nvSpPr>
        <p:spPr>
          <a:xfrm>
            <a:off x="2651760" y="1325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2743200" y="20116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Listar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2743200" y="24231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listar.php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2743200" y="31546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(tabela com foreach)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4754880" y="1280160"/>
            <a:ext cx="1920240" cy="24688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4754880" y="1325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4846320" y="20116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Atualizar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4846320" y="24231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atualizar.php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atualizarAction.php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4846320" y="31546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6858000" y="1280160"/>
            <a:ext cx="1920240" cy="24688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6858000" y="1325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6949440" y="201168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Excluir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6949440" y="24231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excluir.php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excluirAction.php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6949440" y="31546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pt-BR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Na listagem, os ícones mandam o id do amigo pela URL (GET).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000"/>
              <a:buFont typeface="Calibri"/>
              <a:buNone/>
            </a:pPr>
            <a:r>
              <a:rPr b="1" i="0" lang="pt-BR" sz="30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Cookie e hospedagem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548640" y="1371600"/>
            <a:ext cx="2560320" cy="228600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 txBox="1"/>
          <p:nvPr/>
        </p:nvSpPr>
        <p:spPr>
          <a:xfrm>
            <a:off x="685800" y="14630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685800" y="1920240"/>
            <a:ext cx="2286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Guarda os dados no servidor. Foi a que usei no login.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3291840" y="1371600"/>
            <a:ext cx="2560320" cy="228600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 txBox="1"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Cookie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3429000" y="1920240"/>
            <a:ext cx="2286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Guarda os dados num arquivo de texto no computador do usuário. Dá para definir quanto tempo ele dura, por exemplo 1 dia.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6035040" y="1371600"/>
            <a:ext cx="2560320" cy="228600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4"/>
          <p:cNvSpPr txBox="1"/>
          <p:nvPr/>
        </p:nvSpPr>
        <p:spPr>
          <a:xfrm>
            <a:off x="6172200" y="14630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Hospedagem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6172200" y="1920240"/>
            <a:ext cx="2286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Para o site abrir de qualquer lugar precisa de um domínio (o endereço) e de uma hospedagem (onde ficam os arquivos).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000"/>
              <a:buFont typeface="Calibri"/>
              <a:buNone/>
            </a:pPr>
            <a:r>
              <a:rPr b="1" i="0" lang="pt-BR" sz="30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O que aprendi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548640" y="1280160"/>
            <a:ext cx="3840480" cy="256032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"/>
          <p:cNvSpPr/>
          <p:nvPr/>
        </p:nvSpPr>
        <p:spPr>
          <a:xfrm>
            <a:off x="4754880" y="1280160"/>
            <a:ext cx="3840480" cy="256032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O que aprendi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731520" y="182880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•"/>
            </a:pPr>
            <a:r>
              <a:rPr b="0" i="0" lang="pt-BR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require_once evita repetir código.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•"/>
            </a:pPr>
            <a:r>
              <a:rPr b="0" i="0" lang="pt-BR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sessão protege as páginas.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•"/>
            </a:pPr>
            <a:r>
              <a:rPr b="0" i="0" lang="pt-BR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logout encerra a sessão.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Melhorias possíveis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4937760" y="182880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•"/>
            </a:pPr>
            <a:r>
              <a:rPr b="0" i="0" lang="pt-BR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Guardar a senha com hash.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•"/>
            </a:pPr>
            <a:r>
              <a:rPr b="0" i="0" lang="pt-BR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Usar consultas preparadas, para evitar SQL injection.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•"/>
            </a:pPr>
            <a:r>
              <a:rPr b="0" i="0" lang="pt-BR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Chamar o session_start() antes do HTML no loginAction.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000"/>
              <a:buFont typeface="Calibri"/>
              <a:buNone/>
            </a:pPr>
            <a:r>
              <a:rPr b="1" i="0" lang="pt-BR" sz="30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Fluxo do sistema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548640" y="1188720"/>
            <a:ext cx="1737360" cy="8686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80CB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640080" y="125272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1. index.php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640080" y="15544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Digita nome e senha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2651760" y="1188720"/>
            <a:ext cx="1737360" cy="8686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80CB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"/>
          <p:cNvSpPr txBox="1"/>
          <p:nvPr/>
        </p:nvSpPr>
        <p:spPr>
          <a:xfrm>
            <a:off x="2743200" y="125272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2. loginAction.php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2743200" y="15544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Procura o usuário no banco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4663440" y="1097280"/>
            <a:ext cx="1828800" cy="1051560"/>
          </a:xfrm>
          <a:prstGeom prst="diamond">
            <a:avLst/>
          </a:prstGeom>
          <a:solidFill>
            <a:srgbClr val="FFFFFF"/>
          </a:solidFill>
          <a:ln cap="flat" cmpd="sng" w="15875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4892040" y="128016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3. A senha confere?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7040880" y="1188720"/>
            <a:ext cx="1645920" cy="8686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80CB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6"/>
          <p:cNvSpPr txBox="1"/>
          <p:nvPr/>
        </p:nvSpPr>
        <p:spPr>
          <a:xfrm>
            <a:off x="7132320" y="12527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4. Sessão criada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6"/>
          <p:cNvSpPr txBox="1"/>
          <p:nvPr/>
        </p:nvSpPr>
        <p:spPr>
          <a:xfrm>
            <a:off x="7132320" y="15544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$_SESSION['logado']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26"/>
          <p:cNvCxnSpPr/>
          <p:nvPr/>
        </p:nvCxnSpPr>
        <p:spPr>
          <a:xfrm>
            <a:off x="2286000" y="162306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9" name="Google Shape;209;p26"/>
          <p:cNvCxnSpPr/>
          <p:nvPr/>
        </p:nvCxnSpPr>
        <p:spPr>
          <a:xfrm>
            <a:off x="4389120" y="162306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" name="Google Shape;210;p26"/>
          <p:cNvCxnSpPr/>
          <p:nvPr/>
        </p:nvCxnSpPr>
        <p:spPr>
          <a:xfrm>
            <a:off x="6492240" y="1623060"/>
            <a:ext cx="548640" cy="0"/>
          </a:xfrm>
          <a:prstGeom prst="straightConnector1">
            <a:avLst/>
          </a:prstGeom>
          <a:noFill/>
          <a:ln cap="flat" cmpd="sng" w="15875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26"/>
          <p:cNvSpPr txBox="1"/>
          <p:nvPr/>
        </p:nvSpPr>
        <p:spPr>
          <a:xfrm>
            <a:off x="6510528" y="1371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00796B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26"/>
          <p:cNvCxnSpPr/>
          <p:nvPr/>
        </p:nvCxnSpPr>
        <p:spPr>
          <a:xfrm>
            <a:off x="5577840" y="214884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p26"/>
          <p:cNvSpPr txBox="1"/>
          <p:nvPr/>
        </p:nvSpPr>
        <p:spPr>
          <a:xfrm>
            <a:off x="5669280" y="219456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4663440" y="2560320"/>
            <a:ext cx="1828800" cy="86868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EF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6"/>
          <p:cNvSpPr txBox="1"/>
          <p:nvPr/>
        </p:nvSpPr>
        <p:spPr>
          <a:xfrm>
            <a:off x="4754880" y="26243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Login Inválido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475488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Volta para o 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26"/>
          <p:cNvCxnSpPr/>
          <p:nvPr/>
        </p:nvCxnSpPr>
        <p:spPr>
          <a:xfrm rot="10800000">
            <a:off x="1417320" y="2994660"/>
            <a:ext cx="3246120" cy="0"/>
          </a:xfrm>
          <a:prstGeom prst="straightConnector1">
            <a:avLst/>
          </a:prstGeom>
          <a:noFill/>
          <a:ln cap="flat" cmpd="sng" w="1587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26"/>
          <p:cNvCxnSpPr/>
          <p:nvPr/>
        </p:nvCxnSpPr>
        <p:spPr>
          <a:xfrm rot="10800000">
            <a:off x="1417320" y="2057400"/>
            <a:ext cx="0" cy="937260"/>
          </a:xfrm>
          <a:prstGeom prst="straightConnector1">
            <a:avLst/>
          </a:prstGeom>
          <a:noFill/>
          <a:ln cap="flat" cmpd="sng" w="15875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" name="Google Shape;219;p26"/>
          <p:cNvCxnSpPr/>
          <p:nvPr/>
        </p:nvCxnSpPr>
        <p:spPr>
          <a:xfrm>
            <a:off x="7863840" y="2057400"/>
            <a:ext cx="0" cy="502920"/>
          </a:xfrm>
          <a:prstGeom prst="straightConnector1">
            <a:avLst/>
          </a:prstGeom>
          <a:noFill/>
          <a:ln cap="flat" cmpd="sng" w="15875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" name="Google Shape;220;p26"/>
          <p:cNvSpPr/>
          <p:nvPr/>
        </p:nvSpPr>
        <p:spPr>
          <a:xfrm>
            <a:off x="7040880" y="2560320"/>
            <a:ext cx="1645920" cy="8686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80CB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 txBox="1"/>
          <p:nvPr/>
        </p:nvSpPr>
        <p:spPr>
          <a:xfrm>
            <a:off x="7132320" y="26243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5. principal.php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6"/>
          <p:cNvSpPr txBox="1"/>
          <p:nvPr/>
        </p:nvSpPr>
        <p:spPr>
          <a:xfrm>
            <a:off x="7132320" y="29260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26"/>
          <p:cNvCxnSpPr/>
          <p:nvPr/>
        </p:nvCxnSpPr>
        <p:spPr>
          <a:xfrm>
            <a:off x="7863840" y="3429000"/>
            <a:ext cx="0" cy="411480"/>
          </a:xfrm>
          <a:prstGeom prst="straightConnector1">
            <a:avLst/>
          </a:prstGeom>
          <a:noFill/>
          <a:ln cap="flat" cmpd="sng" w="15875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" name="Google Shape;224;p26"/>
          <p:cNvSpPr/>
          <p:nvPr/>
        </p:nvSpPr>
        <p:spPr>
          <a:xfrm>
            <a:off x="7040880" y="3840480"/>
            <a:ext cx="1645920" cy="96012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80CB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7132320" y="390448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6. CRUD de amigos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7132320" y="42062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Cadastrar, listar, atualizar e excluir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6"/>
          <p:cNvCxnSpPr/>
          <p:nvPr/>
        </p:nvCxnSpPr>
        <p:spPr>
          <a:xfrm rot="10800000">
            <a:off x="6492240" y="4320540"/>
            <a:ext cx="548640" cy="0"/>
          </a:xfrm>
          <a:prstGeom prst="straightConnector1">
            <a:avLst/>
          </a:prstGeom>
          <a:noFill/>
          <a:ln cap="flat" cmpd="sng" w="15875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" name="Google Shape;228;p26"/>
          <p:cNvSpPr/>
          <p:nvPr/>
        </p:nvSpPr>
        <p:spPr>
          <a:xfrm>
            <a:off x="4663440" y="3840480"/>
            <a:ext cx="1828800" cy="96012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80CB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4754880" y="39044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7. Logout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4754880" y="420624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Apaga a sessão e volta ao 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548640" y="3840480"/>
            <a:ext cx="3566160" cy="96012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EF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6"/>
          <p:cNvSpPr txBox="1"/>
          <p:nvPr/>
        </p:nvSpPr>
        <p:spPr>
          <a:xfrm>
            <a:off x="640080" y="390448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Abriu pela URL sem login?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6"/>
          <p:cNvSpPr txBox="1"/>
          <p:nvPr/>
        </p:nvSpPr>
        <p:spPr>
          <a:xfrm>
            <a:off x="640080" y="420624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Vai para o acessoNegado.php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