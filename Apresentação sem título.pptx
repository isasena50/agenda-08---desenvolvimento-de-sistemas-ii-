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h2123e6941b92272b_3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h2123e6941b92272b_3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Projeto da Agenda 6 (Lista de Amigos) atualizado na Agenda 8 com login, sessão e importação de arquivos.</a:t>
            </a:r>
            <a:endParaRPr/>
          </a:p>
        </p:txBody>
      </p:sp>
      <p:sp>
        <p:nvSpPr>
          <p:cNvPr id="55" name="Google Shape;55;h2123e6941b92272b_3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h2123e6941b92272b_3_1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h2123e6941b92272b_3_1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antigo index virou principal.php. O novo index.php é a tela de login.</a:t>
            </a:r>
            <a:endParaRPr/>
          </a:p>
        </p:txBody>
      </p:sp>
      <p:sp>
        <p:nvSpPr>
          <p:cNvPr id="65" name="Google Shape;65;h2123e6941b92272b_3_1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h2123e6941b92272b_3_4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h2123e6941b92272b_3_4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tabela usuario guarda quem pode entrar. Já o conexaoBD.php guarda servidor, usuário, senha e banco em um único arquivo.</a:t>
            </a:r>
            <a:endParaRPr/>
          </a:p>
        </p:txBody>
      </p:sp>
      <p:sp>
        <p:nvSpPr>
          <p:cNvPr id="98" name="Google Shape;98;h2123e6941b92272b_3_4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h2123e6941b92272b_3_5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h2123e6941b92272b_3_5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Include: aviso e segue. Require: erro fatal, interrompe. No projeto usamos require_once para arquivos essenciais (conexão, cabeçalho, rodapé e verificação de acesso).</a:t>
            </a:r>
            <a:endParaRPr/>
          </a:p>
        </p:txBody>
      </p:sp>
      <p:sp>
        <p:nvSpPr>
          <p:cNvPr id="114" name="Google Shape;114;h2123e6941b92272b_3_5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h2123e6941b92272b_3_7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h2123e6941b92272b_3_7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Vantagens: menos código digitado, menos esquecimentos e erros, manutenção em um lugar só.</a:t>
            </a:r>
            <a:endParaRPr/>
          </a:p>
        </p:txBody>
      </p:sp>
      <p:sp>
        <p:nvSpPr>
          <p:cNvPr id="128" name="Google Shape;128;h2123e6941b92272b_3_7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h2123e6941b92272b_3_9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h2123e6941b92272b_3_9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senha do formulário é comparada com a senha gravada no banco. Só se confere é que a variável de sessão logado é criada.</a:t>
            </a:r>
            <a:endParaRPr/>
          </a:p>
        </p:txBody>
      </p:sp>
      <p:sp>
        <p:nvSpPr>
          <p:cNvPr id="150" name="Google Shape;150;h2123e6941b92272b_3_9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h2123e6941b92272b_3_12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h2123e6941b92272b_3_12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Como funciona: loginAction cria $_SESSION[logado]; cada página protegida chama verificarAcesso; se a variável não existe, header redireciona para acessoNegado.php.</a:t>
            </a:r>
            <a:endParaRPr/>
          </a:p>
        </p:txBody>
      </p:sp>
      <p:sp>
        <p:nvSpPr>
          <p:cNvPr id="182" name="Google Shape;182;h2123e6941b92272b_3_12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h2123e6941b92272b_3_13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h2123e6941b92272b_3_13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logout remove só a variável logado e redireciona.</a:t>
            </a:r>
            <a:endParaRPr/>
          </a:p>
        </p:txBody>
      </p:sp>
      <p:sp>
        <p:nvSpPr>
          <p:cNvPr id="194" name="Google Shape;194;h2123e6941b92272b_3_13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h2123e6941b92272b_3_14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h2123e6941b92272b_3_14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Os arquivos Action recebem o formulário (POST) ou os dados da URL (GET), executam o SQL e voltam para a listagem.</a:t>
            </a:r>
            <a:endParaRPr/>
          </a:p>
        </p:txBody>
      </p:sp>
      <p:sp>
        <p:nvSpPr>
          <p:cNvPr id="207" name="Google Shape;207;h2123e6941b92272b_3_14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h2123e6941b92272b_3_17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h2123e6941b92272b_3_17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Cookie e hospedagem foram vistos na Agenda 8, mas o projeto usa apenas sessão.</a:t>
            </a:r>
            <a:endParaRPr/>
          </a:p>
        </p:txBody>
      </p:sp>
      <p:sp>
        <p:nvSpPr>
          <p:cNvPr id="238" name="Google Shape;238;h2123e6941b92272b_3_17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h2123e6941b92272b_3_19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h2123e6941b92272b_3_19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SQL do projeto concatena $nome na consulta, o que permite SQL injection; consultas preparadas resolvem.</a:t>
            </a:r>
            <a:endParaRPr/>
          </a:p>
        </p:txBody>
      </p:sp>
      <p:sp>
        <p:nvSpPr>
          <p:cNvPr id="253" name="Google Shape;253;h2123e6941b92272b_3_19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h2123e6941b92272b_3_20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h2123e6941b92272b_3_20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Passo a passo: 1) o usuário preenche o formulário do index.php. 2) loginAction.php conecta ao banco (conexaoBD) e busca o usuário. 3) Se o usuário existe e a senha confere, 4) é criada a sessão logado. 5) principal.php, protegido por verificarAcesso, mostra o menu. 6) O CRUD cadastra, lista, atualiza e exclui amigos. 7) O logout apaga a sessão e volta ao login. Se a senha estiver errada, aparece Login Inválido. Se alguém abrir uma página pela URL sem login, verificarAcesso redireciona para acessoNegado.php.</a:t>
            </a:r>
            <a:endParaRPr/>
          </a:p>
        </p:txBody>
      </p:sp>
      <p:sp>
        <p:nvSpPr>
          <p:cNvPr id="265" name="Google Shape;265;h2123e6941b92272b_3_20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D40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6035040" y="1097280"/>
            <a:ext cx="2651760" cy="2651760"/>
          </a:xfrm>
          <a:prstGeom prst="ellipse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 txBox="1"/>
          <p:nvPr/>
        </p:nvSpPr>
        <p:spPr>
          <a:xfrm>
            <a:off x="6035040" y="1097280"/>
            <a:ext cx="26517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pt-BR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CRUD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 txBox="1"/>
          <p:nvPr/>
        </p:nvSpPr>
        <p:spPr>
          <a:xfrm>
            <a:off x="548640" y="1280160"/>
            <a:ext cx="53035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pt-BR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Projeto Lista de Amigos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 txBox="1"/>
          <p:nvPr/>
        </p:nvSpPr>
        <p:spPr>
          <a:xfrm>
            <a:off x="548640" y="2834640"/>
            <a:ext cx="5303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DFDB"/>
              </a:buClr>
              <a:buSzPts val="1800"/>
              <a:buFont typeface="Calibri"/>
              <a:buNone/>
            </a:pPr>
            <a:r>
              <a:rPr b="0" i="0" lang="pt-BR" sz="1800" u="none" cap="none" strike="noStrike">
                <a:solidFill>
                  <a:srgbClr val="B2DFDB"/>
                </a:solidFill>
                <a:latin typeface="Calibri"/>
                <a:ea typeface="Calibri"/>
                <a:cs typeface="Calibri"/>
                <a:sym typeface="Calibri"/>
              </a:rPr>
              <a:t>Cadastro de amigos (CRUD) com sistema de login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DFDB"/>
              </a:buClr>
              <a:buSzPts val="1800"/>
              <a:buFont typeface="Calibri"/>
              <a:buNone/>
            </a:pPr>
            <a:r>
              <a:rPr b="0" i="0" lang="pt-BR" sz="1800" u="none" cap="none" strike="noStrike">
                <a:solidFill>
                  <a:srgbClr val="B2DFDB"/>
                </a:solidFill>
                <a:latin typeface="Calibri"/>
                <a:ea typeface="Calibri"/>
                <a:cs typeface="Calibri"/>
                <a:sym typeface="Calibri"/>
              </a:rPr>
              <a:t>PHP + MySQL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 txBox="1"/>
          <p:nvPr/>
        </p:nvSpPr>
        <p:spPr>
          <a:xfrm>
            <a:off x="548640" y="42976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pt-BR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Programação WEB II  |  Agenda 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3200"/>
              <a:buFont typeface="Calibri"/>
              <a:buNone/>
            </a:pPr>
            <a:r>
              <a:rPr b="1" i="0" lang="pt-BR" sz="32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Como o projeto funciona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6"/>
          <p:cNvSpPr/>
          <p:nvPr/>
        </p:nvSpPr>
        <p:spPr>
          <a:xfrm>
            <a:off x="457200" y="1280160"/>
            <a:ext cx="1828800" cy="1554480"/>
          </a:xfrm>
          <a:prstGeom prst="roundRect">
            <a:avLst>
              <a:gd fmla="val 4706" name="adj"/>
            </a:avLst>
          </a:prstGeom>
          <a:solidFill>
            <a:srgbClr val="E0F2F1"/>
          </a:solidFill>
          <a:ln cap="flat" cmpd="sng" w="12700">
            <a:solidFill>
              <a:srgbClr val="E0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6"/>
          <p:cNvSpPr txBox="1"/>
          <p:nvPr/>
        </p:nvSpPr>
        <p:spPr>
          <a:xfrm>
            <a:off x="548640" y="137160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1400"/>
              <a:buFont typeface="Calibri"/>
              <a:buNone/>
            </a:pPr>
            <a:r>
              <a:rPr b="1" i="0" lang="pt-BR" sz="14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index.php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6"/>
          <p:cNvSpPr txBox="1"/>
          <p:nvPr/>
        </p:nvSpPr>
        <p:spPr>
          <a:xfrm>
            <a:off x="548640" y="2057400"/>
            <a:ext cx="1645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alibri"/>
              <a:buNone/>
            </a:pPr>
            <a:r>
              <a:rPr b="0" i="0" lang="pt-BR" sz="12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Formulário de login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6"/>
          <p:cNvSpPr txBox="1"/>
          <p:nvPr/>
        </p:nvSpPr>
        <p:spPr>
          <a:xfrm>
            <a:off x="2286000" y="178308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688"/>
              </a:buClr>
              <a:buSzPts val="2200"/>
              <a:buFont typeface="Calibri"/>
              <a:buNone/>
            </a:pPr>
            <a:r>
              <a:rPr b="1" i="0" lang="pt-BR" sz="2200" u="none" cap="none" strike="noStrike">
                <a:solidFill>
                  <a:srgbClr val="0096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2606040" y="1280160"/>
            <a:ext cx="1828800" cy="1554480"/>
          </a:xfrm>
          <a:prstGeom prst="roundRect">
            <a:avLst>
              <a:gd fmla="val 4706" name="adj"/>
            </a:avLst>
          </a:prstGeom>
          <a:solidFill>
            <a:srgbClr val="E0F2F1"/>
          </a:solidFill>
          <a:ln cap="flat" cmpd="sng" w="12700">
            <a:solidFill>
              <a:srgbClr val="E0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/>
        </p:nvSpPr>
        <p:spPr>
          <a:xfrm>
            <a:off x="2697480" y="137160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1400"/>
              <a:buFont typeface="Calibri"/>
              <a:buNone/>
            </a:pPr>
            <a:r>
              <a:rPr b="1" i="0" lang="pt-BR" sz="14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loginAction.php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2697480" y="2057400"/>
            <a:ext cx="1645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alibri"/>
              <a:buNone/>
            </a:pPr>
            <a:r>
              <a:rPr b="0" i="0" lang="pt-BR" sz="12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Confere usuário e senha no banco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4434840" y="178308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688"/>
              </a:buClr>
              <a:buSzPts val="2200"/>
              <a:buFont typeface="Calibri"/>
              <a:buNone/>
            </a:pPr>
            <a:r>
              <a:rPr b="1" i="0" lang="pt-BR" sz="2200" u="none" cap="none" strike="noStrike">
                <a:solidFill>
                  <a:srgbClr val="0096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4754880" y="1280160"/>
            <a:ext cx="1828800" cy="1554480"/>
          </a:xfrm>
          <a:prstGeom prst="roundRect">
            <a:avLst>
              <a:gd fmla="val 4706" name="adj"/>
            </a:avLst>
          </a:prstGeom>
          <a:solidFill>
            <a:srgbClr val="E0F2F1"/>
          </a:solidFill>
          <a:ln cap="flat" cmpd="sng" w="12700">
            <a:solidFill>
              <a:srgbClr val="E0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 txBox="1"/>
          <p:nvPr/>
        </p:nvSpPr>
        <p:spPr>
          <a:xfrm>
            <a:off x="4846320" y="137160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1400"/>
              <a:buFont typeface="Calibri"/>
              <a:buNone/>
            </a:pPr>
            <a:r>
              <a:rPr b="1" i="0" lang="pt-BR" sz="14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principal.php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4846320" y="2057400"/>
            <a:ext cx="1645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alibri"/>
              <a:buNone/>
            </a:pPr>
            <a:r>
              <a:rPr b="0" i="0" lang="pt-BR" sz="12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Menu: Adicionar e Listar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6583680" y="178308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688"/>
              </a:buClr>
              <a:buSzPts val="2200"/>
              <a:buFont typeface="Calibri"/>
              <a:buNone/>
            </a:pPr>
            <a:r>
              <a:rPr b="1" i="0" lang="pt-BR" sz="2200" u="none" cap="none" strike="noStrike">
                <a:solidFill>
                  <a:srgbClr val="0096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6903720" y="1280160"/>
            <a:ext cx="1828800" cy="1554480"/>
          </a:xfrm>
          <a:prstGeom prst="roundRect">
            <a:avLst>
              <a:gd fmla="val 4706" name="adj"/>
            </a:avLst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 txBox="1"/>
          <p:nvPr/>
        </p:nvSpPr>
        <p:spPr>
          <a:xfrm>
            <a:off x="6995160" y="137160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cadastro / listar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atualizar / excluir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6995160" y="2057400"/>
            <a:ext cx="1645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pt-BR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Telas do CRUD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457200" y="32004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1800"/>
              <a:buFont typeface="Calibri"/>
              <a:buNone/>
            </a:pPr>
            <a:r>
              <a:rPr b="1" i="0" lang="pt-BR" sz="18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Tecnologias usadas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457200" y="3657600"/>
            <a:ext cx="1508760" cy="502920"/>
          </a:xfrm>
          <a:prstGeom prst="roundRect">
            <a:avLst>
              <a:gd fmla="val 14545" name="adj"/>
            </a:avLst>
          </a:prstGeom>
          <a:solidFill>
            <a:srgbClr val="004D40"/>
          </a:solidFill>
          <a:ln cap="flat" cmpd="sng" w="12700">
            <a:solidFill>
              <a:srgbClr val="004D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 txBox="1"/>
          <p:nvPr/>
        </p:nvSpPr>
        <p:spPr>
          <a:xfrm>
            <a:off x="457200" y="3657600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2103120" y="3657600"/>
            <a:ext cx="1508760" cy="502920"/>
          </a:xfrm>
          <a:prstGeom prst="roundRect">
            <a:avLst>
              <a:gd fmla="val 14545" name="adj"/>
            </a:avLst>
          </a:prstGeom>
          <a:solidFill>
            <a:srgbClr val="004D40"/>
          </a:solidFill>
          <a:ln cap="flat" cmpd="sng" w="12700">
            <a:solidFill>
              <a:srgbClr val="004D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 txBox="1"/>
          <p:nvPr/>
        </p:nvSpPr>
        <p:spPr>
          <a:xfrm>
            <a:off x="2103120" y="3657600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MySQL (mysqli)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3749040" y="3657600"/>
            <a:ext cx="1508760" cy="502920"/>
          </a:xfrm>
          <a:prstGeom prst="roundRect">
            <a:avLst>
              <a:gd fmla="val 14545" name="adj"/>
            </a:avLst>
          </a:prstGeom>
          <a:solidFill>
            <a:srgbClr val="004D40"/>
          </a:solidFill>
          <a:ln cap="flat" cmpd="sng" w="12700">
            <a:solidFill>
              <a:srgbClr val="004D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 txBox="1"/>
          <p:nvPr/>
        </p:nvSpPr>
        <p:spPr>
          <a:xfrm>
            <a:off x="3749040" y="3657600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W3.CSS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5394960" y="3657600"/>
            <a:ext cx="1508760" cy="502920"/>
          </a:xfrm>
          <a:prstGeom prst="roundRect">
            <a:avLst>
              <a:gd fmla="val 14545" name="adj"/>
            </a:avLst>
          </a:prstGeom>
          <a:solidFill>
            <a:srgbClr val="004D40"/>
          </a:solidFill>
          <a:ln cap="flat" cmpd="sng" w="12700">
            <a:solidFill>
              <a:srgbClr val="004D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 txBox="1"/>
          <p:nvPr/>
        </p:nvSpPr>
        <p:spPr>
          <a:xfrm>
            <a:off x="5394960" y="3657600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Font Awesome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7040880" y="3657600"/>
            <a:ext cx="1508760" cy="502920"/>
          </a:xfrm>
          <a:prstGeom prst="roundRect">
            <a:avLst>
              <a:gd fmla="val 14545" name="adj"/>
            </a:avLst>
          </a:prstGeom>
          <a:solidFill>
            <a:srgbClr val="004D40"/>
          </a:solidFill>
          <a:ln cap="flat" cmpd="sng" w="12700">
            <a:solidFill>
              <a:srgbClr val="004D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 txBox="1"/>
          <p:nvPr/>
        </p:nvSpPr>
        <p:spPr>
          <a:xfrm>
            <a:off x="7040880" y="3657600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usbwebserver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300"/>
              <a:buFont typeface="Calibri"/>
              <a:buNone/>
            </a:pPr>
            <a:r>
              <a:rPr b="0" i="0" lang="pt-BR" sz="13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O projeto roda localmente no usbwebserver (Apache + MySQL).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3200"/>
              <a:buFont typeface="Calibri"/>
              <a:buNone/>
            </a:pPr>
            <a:r>
              <a:rPr b="1" i="0" lang="pt-BR" sz="32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Banco de dados: pwii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457200" y="1188720"/>
            <a:ext cx="3931920" cy="2286000"/>
          </a:xfrm>
          <a:prstGeom prst="roundRect">
            <a:avLst>
              <a:gd fmla="val 3200" name="adj"/>
            </a:avLst>
          </a:prstGeom>
          <a:solidFill>
            <a:srgbClr val="E0F2F1"/>
          </a:solidFill>
          <a:ln cap="flat" cmpd="sng" w="12700">
            <a:solidFill>
              <a:srgbClr val="E0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7"/>
          <p:cNvSpPr/>
          <p:nvPr/>
        </p:nvSpPr>
        <p:spPr>
          <a:xfrm>
            <a:off x="4663440" y="1188720"/>
            <a:ext cx="4023360" cy="2286000"/>
          </a:xfrm>
          <a:prstGeom prst="roundRect">
            <a:avLst>
              <a:gd fmla="val 3200" name="adj"/>
            </a:avLst>
          </a:prstGeom>
          <a:solidFill>
            <a:srgbClr val="E0F2F1"/>
          </a:solidFill>
          <a:ln cap="flat" cmpd="sng" w="12700">
            <a:solidFill>
              <a:srgbClr val="E0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7"/>
          <p:cNvSpPr txBox="1"/>
          <p:nvPr/>
        </p:nvSpPr>
        <p:spPr>
          <a:xfrm>
            <a:off x="640080" y="132588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1600"/>
              <a:buFont typeface="Calibri"/>
              <a:buNone/>
            </a:pPr>
            <a:r>
              <a:rPr b="1" i="0" lang="pt-BR" sz="16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Tabela amigo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640080" y="1783080"/>
            <a:ext cx="35661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alibri"/>
              <a:buChar char="•"/>
            </a:pPr>
            <a:r>
              <a:rPr b="0" i="0" lang="pt-BR" sz="12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idamigo (chave primária, automático)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alibri"/>
              <a:buChar char="•"/>
            </a:pPr>
            <a:r>
              <a:rPr b="0" i="0" lang="pt-BR" sz="12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nome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alibri"/>
              <a:buChar char="•"/>
            </a:pPr>
            <a:r>
              <a:rPr b="0" i="0" lang="pt-BR" sz="12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apelido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alibri"/>
              <a:buChar char="•"/>
            </a:pPr>
            <a:r>
              <a:rPr b="0" i="0" lang="pt-BR" sz="12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email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4846320" y="13258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1600"/>
              <a:buFont typeface="Calibri"/>
              <a:buNone/>
            </a:pPr>
            <a:r>
              <a:rPr b="1" i="0" lang="pt-BR" sz="16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Tabela usuario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4846320" y="1783080"/>
            <a:ext cx="3657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alibri"/>
              <a:buChar char="•"/>
            </a:pPr>
            <a:r>
              <a:rPr b="0" i="0" lang="pt-BR" sz="12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idusuario INT (chave primária, auto incremento)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alibri"/>
              <a:buChar char="•"/>
            </a:pPr>
            <a:r>
              <a:rPr b="0" i="0" lang="pt-BR" sz="12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nome VARCHAR(45)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alibri"/>
              <a:buChar char="•"/>
            </a:pPr>
            <a:r>
              <a:rPr b="0" i="0" lang="pt-BR" sz="12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senha VARCHAR(45)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4846320" y="29718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688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009688"/>
                </a:solidFill>
                <a:latin typeface="Calibri"/>
                <a:ea typeface="Calibri"/>
                <a:cs typeface="Calibri"/>
                <a:sym typeface="Calibri"/>
              </a:rPr>
              <a:t>Usuário de teste: gabi / gabi123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457200" y="3657600"/>
            <a:ext cx="8229600" cy="731520"/>
          </a:xfrm>
          <a:prstGeom prst="roundRect">
            <a:avLst>
              <a:gd fmla="val 10000" name="adj"/>
            </a:avLst>
          </a:prstGeom>
          <a:solidFill>
            <a:srgbClr val="263238"/>
          </a:solidFill>
          <a:ln cap="flat" cmpd="sng" w="12700">
            <a:solidFill>
              <a:srgbClr val="2632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7"/>
          <p:cNvSpPr txBox="1"/>
          <p:nvPr/>
        </p:nvSpPr>
        <p:spPr>
          <a:xfrm>
            <a:off x="640080" y="379476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0" i="0" lang="pt-BR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INSERT INTO `pwii`.`usuario` (`nome`,`senha`)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0" i="0" lang="pt-BR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VALUES ('gabi', 'gabi123');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alibri"/>
              <a:buNone/>
            </a:pPr>
            <a:r>
              <a:rPr b="0" i="0" lang="pt-BR" sz="12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Esses valores são usados para entrar no site.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3200"/>
              <a:buFont typeface="Calibri"/>
              <a:buNone/>
            </a:pPr>
            <a:r>
              <a:rPr b="1" i="0" lang="pt-BR" sz="32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Importação de arquivos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300"/>
              <a:buFont typeface="Calibri"/>
              <a:buNone/>
            </a:pPr>
            <a:r>
              <a:rPr b="0" i="0" lang="pt-BR" sz="13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O PHP tem 4 funções: include(), include_once(), require() e require_once(). As versões "once" não importam o mesmo arquivo duas vezes.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457200" y="1737360"/>
            <a:ext cx="4023360" cy="2286000"/>
          </a:xfrm>
          <a:prstGeom prst="roundRect">
            <a:avLst>
              <a:gd fmla="val 3200" name="adj"/>
            </a:avLst>
          </a:prstGeom>
          <a:solidFill>
            <a:srgbClr val="E0F2F1"/>
          </a:solidFill>
          <a:ln cap="flat" cmpd="sng" w="12700">
            <a:solidFill>
              <a:srgbClr val="E0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8"/>
          <p:cNvSpPr txBox="1"/>
          <p:nvPr/>
        </p:nvSpPr>
        <p:spPr>
          <a:xfrm>
            <a:off x="685800" y="1874520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688"/>
              </a:buClr>
              <a:buSzPts val="2000"/>
              <a:buFont typeface="Calibri"/>
              <a:buNone/>
            </a:pPr>
            <a:r>
              <a:rPr b="1" i="0" lang="pt-BR" sz="2000" u="none" cap="none" strike="noStrike">
                <a:solidFill>
                  <a:srgbClr val="009688"/>
                </a:solidFill>
                <a:latin typeface="Calibri"/>
                <a:ea typeface="Calibri"/>
                <a:cs typeface="Calibri"/>
                <a:sym typeface="Calibri"/>
              </a:rPr>
              <a:t>include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685800" y="2423160"/>
            <a:ext cx="35661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300"/>
              <a:buFont typeface="Calibri"/>
              <a:buChar char="•"/>
            </a:pPr>
            <a:r>
              <a:rPr b="0" i="0" lang="pt-BR" sz="13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Arquivo não encontrado: gera um Warning e a página continua sendo exibida (sem o arquivo).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300"/>
              <a:buFont typeface="Calibri"/>
              <a:buChar char="•"/>
            </a:pPr>
            <a:r>
              <a:rPr b="0" i="0" lang="pt-BR" sz="13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Aceita parâmetros via GET.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4663440" y="1737360"/>
            <a:ext cx="4023360" cy="2286000"/>
          </a:xfrm>
          <a:prstGeom prst="roundRect">
            <a:avLst>
              <a:gd fmla="val 3200" name="adj"/>
            </a:avLst>
          </a:prstGeom>
          <a:solidFill>
            <a:srgbClr val="E0F2F1"/>
          </a:solidFill>
          <a:ln cap="flat" cmpd="sng" w="12700">
            <a:solidFill>
              <a:srgbClr val="E0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8"/>
          <p:cNvSpPr txBox="1"/>
          <p:nvPr/>
        </p:nvSpPr>
        <p:spPr>
          <a:xfrm>
            <a:off x="4892040" y="1874520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2000"/>
              <a:buFont typeface="Calibri"/>
              <a:buNone/>
            </a:pPr>
            <a:r>
              <a:rPr b="1" i="0" lang="pt-BR" sz="2000" u="none" cap="none" strike="noStrik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require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8"/>
          <p:cNvSpPr txBox="1"/>
          <p:nvPr/>
        </p:nvSpPr>
        <p:spPr>
          <a:xfrm>
            <a:off x="4892040" y="2423160"/>
            <a:ext cx="35661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300"/>
              <a:buFont typeface="Calibri"/>
              <a:buChar char="•"/>
            </a:pPr>
            <a:r>
              <a:rPr b="0" i="0" lang="pt-BR" sz="13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Arquivo não encontrado: gera um Fatal Error e para a execução do que vem depois.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300"/>
              <a:buFont typeface="Calibri"/>
              <a:buChar char="•"/>
            </a:pPr>
            <a:r>
              <a:rPr b="0" i="0" lang="pt-BR" sz="13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Ignora parâmetros via GET.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8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Importar duas vezes reinicia as variáveis do arquivo: por isso usamos require_once.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3200"/>
              <a:buFont typeface="Calibri"/>
              <a:buNone/>
            </a:pPr>
            <a:r>
              <a:rPr b="1" i="0" lang="pt-BR" sz="32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Reaproveitando código com require_once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457200" y="1188720"/>
            <a:ext cx="2651760" cy="2926080"/>
          </a:xfrm>
          <a:prstGeom prst="roundRect">
            <a:avLst>
              <a:gd fmla="val 2759" name="adj"/>
            </a:avLst>
          </a:prstGeom>
          <a:solidFill>
            <a:srgbClr val="E0F2F1"/>
          </a:solidFill>
          <a:ln cap="flat" cmpd="sng" w="12700">
            <a:solidFill>
              <a:srgbClr val="E0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9"/>
          <p:cNvSpPr txBox="1"/>
          <p:nvPr/>
        </p:nvSpPr>
        <p:spPr>
          <a:xfrm>
            <a:off x="594360" y="128016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1400"/>
              <a:buFont typeface="Calibri"/>
              <a:buNone/>
            </a:pPr>
            <a:r>
              <a:rPr b="1" i="0" lang="pt-BR" sz="14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conexaoBD.php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9"/>
          <p:cNvSpPr txBox="1"/>
          <p:nvPr/>
        </p:nvSpPr>
        <p:spPr>
          <a:xfrm>
            <a:off x="594360" y="1691640"/>
            <a:ext cx="2377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alibri"/>
              <a:buNone/>
            </a:pPr>
            <a:r>
              <a:rPr b="0" i="0" lang="pt-BR" sz="12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Dados e conexão mysqli em um só arquivo. Se a senha do banco mudar, altera-se só ele.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594360" y="3017520"/>
            <a:ext cx="2377440" cy="868680"/>
          </a:xfrm>
          <a:prstGeom prst="roundRect">
            <a:avLst>
              <a:gd fmla="val 8421" name="adj"/>
            </a:avLst>
          </a:prstGeom>
          <a:solidFill>
            <a:srgbClr val="263238"/>
          </a:solidFill>
          <a:ln cap="flat" cmpd="sng" w="12700">
            <a:solidFill>
              <a:srgbClr val="2632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9"/>
          <p:cNvSpPr txBox="1"/>
          <p:nvPr/>
        </p:nvSpPr>
        <p:spPr>
          <a:xfrm>
            <a:off x="777240" y="315468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require_once 'conexaoBD.php';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3246120" y="1188720"/>
            <a:ext cx="2651760" cy="2926080"/>
          </a:xfrm>
          <a:prstGeom prst="roundRect">
            <a:avLst>
              <a:gd fmla="val 2759" name="adj"/>
            </a:avLst>
          </a:prstGeom>
          <a:solidFill>
            <a:srgbClr val="E0F2F1"/>
          </a:solidFill>
          <a:ln cap="flat" cmpd="sng" w="12700">
            <a:solidFill>
              <a:srgbClr val="E0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9"/>
          <p:cNvSpPr txBox="1"/>
          <p:nvPr/>
        </p:nvSpPr>
        <p:spPr>
          <a:xfrm>
            <a:off x="3383280" y="128016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1400"/>
              <a:buFont typeface="Calibri"/>
              <a:buNone/>
            </a:pPr>
            <a:r>
              <a:rPr b="1" i="0" lang="pt-BR" sz="14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cabecalho.php / rodape.php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9"/>
          <p:cNvSpPr txBox="1"/>
          <p:nvPr/>
        </p:nvSpPr>
        <p:spPr>
          <a:xfrm>
            <a:off x="3383280" y="1691640"/>
            <a:ext cx="2377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alibri"/>
              <a:buNone/>
            </a:pPr>
            <a:r>
              <a:rPr b="0" i="0" lang="pt-BR" sz="12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Cabeçalho abre o HTML (head, W3.CSS, Font Awesome) e rodapé fecha body/html.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3383280" y="3017520"/>
            <a:ext cx="2377440" cy="868680"/>
          </a:xfrm>
          <a:prstGeom prst="roundRect">
            <a:avLst>
              <a:gd fmla="val 8421" name="adj"/>
            </a:avLst>
          </a:prstGeom>
          <a:solidFill>
            <a:srgbClr val="263238"/>
          </a:solidFill>
          <a:ln cap="flat" cmpd="sng" w="12700">
            <a:solidFill>
              <a:srgbClr val="2632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9"/>
          <p:cNvSpPr txBox="1"/>
          <p:nvPr/>
        </p:nvSpPr>
        <p:spPr>
          <a:xfrm>
            <a:off x="3566160" y="315468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require_once('cabecalho.php');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require_once('rodape.php');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6035040" y="1188720"/>
            <a:ext cx="2651760" cy="2926080"/>
          </a:xfrm>
          <a:prstGeom prst="roundRect">
            <a:avLst>
              <a:gd fmla="val 2759" name="adj"/>
            </a:avLst>
          </a:prstGeom>
          <a:solidFill>
            <a:srgbClr val="E0F2F1"/>
          </a:solidFill>
          <a:ln cap="flat" cmpd="sng" w="12700">
            <a:solidFill>
              <a:srgbClr val="E0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9"/>
          <p:cNvSpPr txBox="1"/>
          <p:nvPr/>
        </p:nvSpPr>
        <p:spPr>
          <a:xfrm>
            <a:off x="6172200" y="128016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1400"/>
              <a:buFont typeface="Calibri"/>
              <a:buNone/>
            </a:pPr>
            <a:r>
              <a:rPr b="1" i="0" lang="pt-BR" sz="14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verificarAcesso.php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9"/>
          <p:cNvSpPr txBox="1"/>
          <p:nvPr/>
        </p:nvSpPr>
        <p:spPr>
          <a:xfrm>
            <a:off x="6172200" y="1691640"/>
            <a:ext cx="2377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alibri"/>
              <a:buNone/>
            </a:pPr>
            <a:r>
              <a:rPr b="0" i="0" lang="pt-BR" sz="12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Barra quem não fez login. Vai na primeira linha de toda página protegida.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6172200" y="3017520"/>
            <a:ext cx="2377440" cy="868680"/>
          </a:xfrm>
          <a:prstGeom prst="roundRect">
            <a:avLst>
              <a:gd fmla="val 8421" name="adj"/>
            </a:avLst>
          </a:prstGeom>
          <a:solidFill>
            <a:srgbClr val="263238"/>
          </a:solidFill>
          <a:ln cap="flat" cmpd="sng" w="12700">
            <a:solidFill>
              <a:srgbClr val="2632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9"/>
          <p:cNvSpPr txBox="1"/>
          <p:nvPr/>
        </p:nvSpPr>
        <p:spPr>
          <a:xfrm>
            <a:off x="6355080" y="315468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require_once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('verificarAcesso.php');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9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300"/>
              <a:buFont typeface="Calibri"/>
              <a:buNone/>
            </a:pPr>
            <a:r>
              <a:rPr b="0" i="0" lang="pt-BR" sz="13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Antes, o mesmo código era copiado em cada arquivo (pelo menos 4 com acesso ao banco). Agora uma alteração atualiza o projeto inteiro.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3200"/>
              <a:buFont typeface="Calibri"/>
              <a:buNone/>
            </a:pPr>
            <a:r>
              <a:rPr b="1" i="0" lang="pt-BR" sz="32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Login passo a passo (loginAction.php)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0"/>
          <p:cNvSpPr/>
          <p:nvPr/>
        </p:nvSpPr>
        <p:spPr>
          <a:xfrm>
            <a:off x="457200" y="1280160"/>
            <a:ext cx="1508760" cy="1371600"/>
          </a:xfrm>
          <a:prstGeom prst="roundRect">
            <a:avLst>
              <a:gd fmla="val 5333" name="adj"/>
            </a:avLst>
          </a:prstGeom>
          <a:solidFill>
            <a:srgbClr val="E0F2F1"/>
          </a:solidFill>
          <a:ln cap="flat" cmpd="sng" w="12700">
            <a:solidFill>
              <a:srgbClr val="E0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0"/>
          <p:cNvSpPr txBox="1"/>
          <p:nvPr/>
        </p:nvSpPr>
        <p:spPr>
          <a:xfrm>
            <a:off x="548640" y="1344168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688"/>
              </a:buClr>
              <a:buSzPts val="1600"/>
              <a:buFont typeface="Calibri"/>
              <a:buNone/>
            </a:pPr>
            <a:r>
              <a:rPr b="1" i="0" lang="pt-BR" sz="1600" u="none" cap="none" strike="noStrike">
                <a:solidFill>
                  <a:srgbClr val="00968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0"/>
          <p:cNvSpPr txBox="1"/>
          <p:nvPr/>
        </p:nvSpPr>
        <p:spPr>
          <a:xfrm>
            <a:off x="548640" y="1737360"/>
            <a:ext cx="1325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100"/>
              <a:buFont typeface="Calibri"/>
              <a:buNone/>
            </a:pPr>
            <a:r>
              <a:rPr b="0" i="0" lang="pt-BR" sz="11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Formulário envia txtNome e txtSenha (POST)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0"/>
          <p:cNvSpPr txBox="1"/>
          <p:nvPr/>
        </p:nvSpPr>
        <p:spPr>
          <a:xfrm>
            <a:off x="1938528" y="173736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688"/>
              </a:buClr>
              <a:buSzPts val="1600"/>
              <a:buFont typeface="Calibri"/>
              <a:buNone/>
            </a:pPr>
            <a:r>
              <a:rPr b="1" i="0" lang="pt-BR" sz="1600" u="none" cap="none" strike="noStrike">
                <a:solidFill>
                  <a:srgbClr val="0096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0"/>
          <p:cNvSpPr/>
          <p:nvPr/>
        </p:nvSpPr>
        <p:spPr>
          <a:xfrm>
            <a:off x="2148840" y="1280160"/>
            <a:ext cx="1508760" cy="1371600"/>
          </a:xfrm>
          <a:prstGeom prst="roundRect">
            <a:avLst>
              <a:gd fmla="val 5333" name="adj"/>
            </a:avLst>
          </a:prstGeom>
          <a:solidFill>
            <a:srgbClr val="E0F2F1"/>
          </a:solidFill>
          <a:ln cap="flat" cmpd="sng" w="12700">
            <a:solidFill>
              <a:srgbClr val="E0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0"/>
          <p:cNvSpPr txBox="1"/>
          <p:nvPr/>
        </p:nvSpPr>
        <p:spPr>
          <a:xfrm>
            <a:off x="2240280" y="1344168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688"/>
              </a:buClr>
              <a:buSzPts val="1600"/>
              <a:buFont typeface="Calibri"/>
              <a:buNone/>
            </a:pPr>
            <a:r>
              <a:rPr b="1" i="0" lang="pt-BR" sz="1600" u="none" cap="none" strike="noStrike">
                <a:solidFill>
                  <a:srgbClr val="00968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0"/>
          <p:cNvSpPr txBox="1"/>
          <p:nvPr/>
        </p:nvSpPr>
        <p:spPr>
          <a:xfrm>
            <a:off x="2240280" y="1737360"/>
            <a:ext cx="1325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100"/>
              <a:buFont typeface="Calibri"/>
              <a:buNone/>
            </a:pPr>
            <a:r>
              <a:rPr b="0" i="0" lang="pt-BR" sz="11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require_once conexaoBD.php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3630168" y="173736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688"/>
              </a:buClr>
              <a:buSzPts val="1600"/>
              <a:buFont typeface="Calibri"/>
              <a:buNone/>
            </a:pPr>
            <a:r>
              <a:rPr b="1" i="0" lang="pt-BR" sz="1600" u="none" cap="none" strike="noStrike">
                <a:solidFill>
                  <a:srgbClr val="0096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3840480" y="1280160"/>
            <a:ext cx="1508760" cy="1371600"/>
          </a:xfrm>
          <a:prstGeom prst="roundRect">
            <a:avLst>
              <a:gd fmla="val 5333" name="adj"/>
            </a:avLst>
          </a:prstGeom>
          <a:solidFill>
            <a:srgbClr val="E0F2F1"/>
          </a:solidFill>
          <a:ln cap="flat" cmpd="sng" w="12700">
            <a:solidFill>
              <a:srgbClr val="E0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3931920" y="1344168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688"/>
              </a:buClr>
              <a:buSzPts val="1600"/>
              <a:buFont typeface="Calibri"/>
              <a:buNone/>
            </a:pPr>
            <a:r>
              <a:rPr b="1" i="0" lang="pt-BR" sz="1600" u="none" cap="none" strike="noStrike">
                <a:solidFill>
                  <a:srgbClr val="00968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3931920" y="1737360"/>
            <a:ext cx="1325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100"/>
              <a:buFont typeface="Calibri"/>
              <a:buNone/>
            </a:pPr>
            <a:r>
              <a:rPr b="0" i="0" lang="pt-BR" sz="11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SELECT * FROM usuario WHERE nome = ...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5321808" y="173736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688"/>
              </a:buClr>
              <a:buSzPts val="1600"/>
              <a:buFont typeface="Calibri"/>
              <a:buNone/>
            </a:pPr>
            <a:r>
              <a:rPr b="1" i="0" lang="pt-BR" sz="1600" u="none" cap="none" strike="noStrike">
                <a:solidFill>
                  <a:srgbClr val="0096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5532120" y="1280160"/>
            <a:ext cx="1508760" cy="1371600"/>
          </a:xfrm>
          <a:prstGeom prst="roundRect">
            <a:avLst>
              <a:gd fmla="val 5333" name="adj"/>
            </a:avLst>
          </a:prstGeom>
          <a:solidFill>
            <a:srgbClr val="E0F2F1"/>
          </a:solidFill>
          <a:ln cap="flat" cmpd="sng" w="12700">
            <a:solidFill>
              <a:srgbClr val="E0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0"/>
          <p:cNvSpPr txBox="1"/>
          <p:nvPr/>
        </p:nvSpPr>
        <p:spPr>
          <a:xfrm>
            <a:off x="5623560" y="1344168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688"/>
              </a:buClr>
              <a:buSzPts val="1600"/>
              <a:buFont typeface="Calibri"/>
              <a:buNone/>
            </a:pPr>
            <a:r>
              <a:rPr b="1" i="0" lang="pt-BR" sz="1600" u="none" cap="none" strike="noStrike">
                <a:solidFill>
                  <a:srgbClr val="00968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5623560" y="1737360"/>
            <a:ext cx="1325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100"/>
              <a:buFont typeface="Calibri"/>
              <a:buNone/>
            </a:pPr>
            <a:r>
              <a:rPr b="0" i="0" lang="pt-BR" sz="11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Usuário existe e a senha confere?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7013448" y="173736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688"/>
              </a:buClr>
              <a:buSzPts val="1600"/>
              <a:buFont typeface="Calibri"/>
              <a:buNone/>
            </a:pPr>
            <a:r>
              <a:rPr b="1" i="0" lang="pt-BR" sz="1600" u="none" cap="none" strike="noStrike">
                <a:solidFill>
                  <a:srgbClr val="0096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7223760" y="1280160"/>
            <a:ext cx="1508760" cy="1371600"/>
          </a:xfrm>
          <a:prstGeom prst="roundRect">
            <a:avLst>
              <a:gd fmla="val 5333" name="adj"/>
            </a:avLst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7315200" y="1344168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pt-BR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7315200" y="1737360"/>
            <a:ext cx="1325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$_SESSION['logado'] = $nome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457200" y="2926080"/>
            <a:ext cx="4023360" cy="1371600"/>
          </a:xfrm>
          <a:prstGeom prst="roundRect">
            <a:avLst>
              <a:gd fmla="val 5333" name="adj"/>
            </a:avLst>
          </a:prstGeom>
          <a:solidFill>
            <a:srgbClr val="E0F2F1"/>
          </a:solidFill>
          <a:ln cap="flat" cmpd="sng" w="12700">
            <a:solidFill>
              <a:srgbClr val="E0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0"/>
          <p:cNvSpPr/>
          <p:nvPr/>
        </p:nvSpPr>
        <p:spPr>
          <a:xfrm>
            <a:off x="4663440" y="2926080"/>
            <a:ext cx="4023360" cy="1371600"/>
          </a:xfrm>
          <a:prstGeom prst="roundRect">
            <a:avLst>
              <a:gd fmla="val 5333" name="adj"/>
            </a:avLst>
          </a:prstGeom>
          <a:solidFill>
            <a:srgbClr val="E0F2F1"/>
          </a:solidFill>
          <a:ln cap="flat" cmpd="sng" w="12700">
            <a:solidFill>
              <a:srgbClr val="E0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640080" y="30175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688"/>
              </a:buClr>
              <a:buSzPts val="1500"/>
              <a:buFont typeface="Calibri"/>
              <a:buNone/>
            </a:pPr>
            <a:r>
              <a:rPr b="1" i="0" lang="pt-BR" sz="1500" u="none" cap="none" strike="noStrike">
                <a:solidFill>
                  <a:srgbClr val="009688"/>
                </a:solidFill>
                <a:latin typeface="Calibri"/>
                <a:ea typeface="Calibri"/>
                <a:cs typeface="Calibri"/>
                <a:sym typeface="Calibri"/>
              </a:rPr>
              <a:t>Senha correta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640080" y="3383280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300"/>
              <a:buFont typeface="Calibri"/>
              <a:buNone/>
            </a:pPr>
            <a:r>
              <a:rPr b="0" i="0" lang="pt-BR" sz="13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Mostra "gabi, Seja Bem-Vinda!" com link para principal.php.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846320" y="30175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500"/>
              <a:buFont typeface="Calibri"/>
              <a:buNone/>
            </a:pPr>
            <a:r>
              <a:rPr b="1" i="0" lang="pt-BR" sz="1500" u="none" cap="none" strike="noStrik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Usuário não existe ou senha errada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846320" y="3383280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300"/>
              <a:buFont typeface="Calibri"/>
              <a:buNone/>
            </a:pPr>
            <a:r>
              <a:rPr b="0" i="0" lang="pt-BR" sz="13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Mostra "Login Inválido!" com link de volta para index.php.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Dica: usar type="password" no campo de senha para não exibir o que é digitado.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3200"/>
              <a:buFont typeface="Calibri"/>
              <a:buNone/>
            </a:pPr>
            <a:r>
              <a:rPr b="1" i="0" lang="pt-BR" sz="32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Sessão e proteção das páginas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457200" y="1097280"/>
            <a:ext cx="4114800" cy="3200400"/>
          </a:xfrm>
          <a:prstGeom prst="roundRect">
            <a:avLst>
              <a:gd fmla="val 2286" name="adj"/>
            </a:avLst>
          </a:prstGeom>
          <a:solidFill>
            <a:srgbClr val="E0F2F1"/>
          </a:solidFill>
          <a:ln cap="flat" cmpd="sng" w="12700">
            <a:solidFill>
              <a:srgbClr val="E0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640080" y="118872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1600"/>
              <a:buFont typeface="Calibri"/>
              <a:buNone/>
            </a:pPr>
            <a:r>
              <a:rPr b="1" i="0" lang="pt-BR" sz="16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Por que usar SESSION?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640080" y="1600200"/>
            <a:ext cx="374904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alibri"/>
              <a:buChar char="•"/>
            </a:pPr>
            <a:r>
              <a:rPr b="0" i="0" lang="pt-BR" sz="12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HTTP não guarda estado: o servidor não sabe quem é você.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alibri"/>
              <a:buChar char="•"/>
            </a:pPr>
            <a:r>
              <a:rPr b="0" i="0" lang="pt-BR" sz="12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session_start() abre a sessão; $_SESSION guarda dados do usuário entre páginas.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alibri"/>
              <a:buChar char="•"/>
            </a:pPr>
            <a:r>
              <a:rPr b="0" i="0" lang="pt-BR" sz="12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Sem sessão, digitar principal.php na URL burla o login.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alibri"/>
              <a:buChar char="•"/>
            </a:pPr>
            <a:r>
              <a:rPr b="0" i="0" lang="pt-BR" sz="12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verificarAcesso.php: sem "logado", vai para acessoNegado.php.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4754880" y="1097280"/>
            <a:ext cx="3931920" cy="2103120"/>
          </a:xfrm>
          <a:prstGeom prst="roundRect">
            <a:avLst>
              <a:gd fmla="val 3478" name="adj"/>
            </a:avLst>
          </a:prstGeom>
          <a:solidFill>
            <a:srgbClr val="263238"/>
          </a:solidFill>
          <a:ln cap="flat" cmpd="sng" w="12700">
            <a:solidFill>
              <a:srgbClr val="2632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4937760" y="1234440"/>
            <a:ext cx="35661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if (!isset($_SESSION))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session_start();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if (!isset($_SESSION['logado']))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header('location:acessoNegado.php');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die();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4754880" y="3337560"/>
            <a:ext cx="3931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alibri"/>
              <a:buNone/>
            </a:pPr>
            <a:r>
              <a:rPr b="0" i="0" lang="pt-BR" sz="12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Se não está logado, é redirecionado e o die() interrompe a página.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3200"/>
              <a:buFont typeface="Calibri"/>
              <a:buNone/>
            </a:pPr>
            <a:r>
              <a:rPr b="1" i="0" lang="pt-BR" sz="32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Logout e Acesso negado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2"/>
          <p:cNvSpPr/>
          <p:nvPr/>
        </p:nvSpPr>
        <p:spPr>
          <a:xfrm>
            <a:off x="457200" y="1188720"/>
            <a:ext cx="4023360" cy="2377440"/>
          </a:xfrm>
          <a:prstGeom prst="roundRect">
            <a:avLst>
              <a:gd fmla="val 3077" name="adj"/>
            </a:avLst>
          </a:prstGeom>
          <a:solidFill>
            <a:srgbClr val="E0F2F1"/>
          </a:solidFill>
          <a:ln cap="flat" cmpd="sng" w="12700">
            <a:solidFill>
              <a:srgbClr val="E0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2"/>
          <p:cNvSpPr/>
          <p:nvPr/>
        </p:nvSpPr>
        <p:spPr>
          <a:xfrm>
            <a:off x="4663440" y="1188720"/>
            <a:ext cx="4023360" cy="2377440"/>
          </a:xfrm>
          <a:prstGeom prst="roundRect">
            <a:avLst>
              <a:gd fmla="val 3077" name="adj"/>
            </a:avLst>
          </a:prstGeom>
          <a:solidFill>
            <a:srgbClr val="E0F2F1"/>
          </a:solidFill>
          <a:ln cap="flat" cmpd="sng" w="12700">
            <a:solidFill>
              <a:srgbClr val="E0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1600"/>
              <a:buFont typeface="Calibri"/>
              <a:buNone/>
            </a:pPr>
            <a:r>
              <a:rPr b="1" i="0" lang="pt-BR" sz="16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logoutAction.php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2"/>
          <p:cNvSpPr txBox="1"/>
          <p:nvPr/>
        </p:nvSpPr>
        <p:spPr>
          <a:xfrm>
            <a:off x="640080" y="1737360"/>
            <a:ext cx="36576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alibri"/>
              <a:buChar char="•"/>
            </a:pPr>
            <a:r>
              <a:rPr b="0" i="0" lang="pt-BR" sz="12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Botão Logout em principal.php (form POST)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alibri"/>
              <a:buChar char="•"/>
            </a:pPr>
            <a:r>
              <a:rPr b="0" i="0" lang="pt-BR" sz="12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unset($_SESSION['logado'])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alibri"/>
              <a:buChar char="•"/>
            </a:pPr>
            <a:r>
              <a:rPr b="0" i="0" lang="pt-BR" sz="12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header("location:index.php")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alibri"/>
              <a:buChar char="•"/>
            </a:pPr>
            <a:r>
              <a:rPr b="0" i="0" lang="pt-BR" sz="12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Login passa a ser necessário de novo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2"/>
          <p:cNvSpPr txBox="1"/>
          <p:nvPr/>
        </p:nvSpPr>
        <p:spPr>
          <a:xfrm>
            <a:off x="4846320" y="12801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1600"/>
              <a:buFont typeface="Calibri"/>
              <a:buNone/>
            </a:pPr>
            <a:r>
              <a:rPr b="1" i="0" lang="pt-BR" sz="16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acessoNegado.php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2"/>
          <p:cNvSpPr txBox="1"/>
          <p:nvPr/>
        </p:nvSpPr>
        <p:spPr>
          <a:xfrm>
            <a:off x="4846320" y="1737360"/>
            <a:ext cx="36576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alibri"/>
              <a:buChar char="•"/>
            </a:pPr>
            <a:r>
              <a:rPr b="0" i="0" lang="pt-BR" sz="12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Mostra "Acesso NEGADO!"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alibri"/>
              <a:buChar char="•"/>
            </a:pPr>
            <a:r>
              <a:rPr b="0" i="0" lang="pt-BR" sz="12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Link para o index.php, onde o login é feito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alibri"/>
              <a:buChar char="•"/>
            </a:pPr>
            <a:r>
              <a:rPr b="0" i="0" lang="pt-BR" sz="12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Aparece quando se tenta abrir uma página protegida pela URL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2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688"/>
              </a:buClr>
              <a:buSzPts val="1500"/>
              <a:buFont typeface="Calibri"/>
              <a:buNone/>
            </a:pPr>
            <a:r>
              <a:rPr b="1" i="0" lang="pt-BR" sz="1500" u="none" cap="none" strike="noStrike">
                <a:solidFill>
                  <a:srgbClr val="009688"/>
                </a:solidFill>
                <a:latin typeface="Calibri"/>
                <a:ea typeface="Calibri"/>
                <a:cs typeface="Calibri"/>
                <a:sym typeface="Calibri"/>
              </a:rPr>
              <a:t>Resultado: só quem fez login acessa o menu e o CRUD de amigos.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3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3200"/>
              <a:buFont typeface="Calibri"/>
              <a:buNone/>
            </a:pPr>
            <a:r>
              <a:rPr b="1" i="0" lang="pt-BR" sz="32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O CRUD de amigos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3"/>
          <p:cNvSpPr/>
          <p:nvPr/>
        </p:nvSpPr>
        <p:spPr>
          <a:xfrm>
            <a:off x="457200" y="1188720"/>
            <a:ext cx="1920240" cy="3108960"/>
          </a:xfrm>
          <a:prstGeom prst="roundRect">
            <a:avLst>
              <a:gd fmla="val 3810" name="adj"/>
            </a:avLst>
          </a:prstGeom>
          <a:solidFill>
            <a:srgbClr val="E0F2F1"/>
          </a:solidFill>
          <a:ln cap="flat" cmpd="sng" w="12700">
            <a:solidFill>
              <a:srgbClr val="E0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3"/>
          <p:cNvSpPr/>
          <p:nvPr/>
        </p:nvSpPr>
        <p:spPr>
          <a:xfrm>
            <a:off x="1051560" y="1325880"/>
            <a:ext cx="731520" cy="731520"/>
          </a:xfrm>
          <a:prstGeom prst="ellipse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3"/>
          <p:cNvSpPr txBox="1"/>
          <p:nvPr/>
        </p:nvSpPr>
        <p:spPr>
          <a:xfrm>
            <a:off x="1051560" y="13258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pt-BR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3"/>
          <p:cNvSpPr txBox="1"/>
          <p:nvPr/>
        </p:nvSpPr>
        <p:spPr>
          <a:xfrm>
            <a:off x="548640" y="219456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Create / Cadastrar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3"/>
          <p:cNvSpPr txBox="1"/>
          <p:nvPr/>
        </p:nvSpPr>
        <p:spPr>
          <a:xfrm>
            <a:off x="548640" y="260604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688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009688"/>
                </a:solidFill>
                <a:latin typeface="Calibri"/>
                <a:ea typeface="Calibri"/>
                <a:cs typeface="Calibri"/>
                <a:sym typeface="Calibri"/>
              </a:rPr>
              <a:t>cadastro.php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688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009688"/>
                </a:solidFill>
                <a:latin typeface="Calibri"/>
                <a:ea typeface="Calibri"/>
                <a:cs typeface="Calibri"/>
                <a:sym typeface="Calibri"/>
              </a:rPr>
              <a:t>cadastroAction.php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3"/>
          <p:cNvSpPr txBox="1"/>
          <p:nvPr/>
        </p:nvSpPr>
        <p:spPr>
          <a:xfrm>
            <a:off x="548640" y="3200400"/>
            <a:ext cx="1737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100"/>
              <a:buFont typeface="Calibri"/>
              <a:buNone/>
            </a:pPr>
            <a:r>
              <a:rPr b="0" i="0" lang="pt-BR" sz="11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INSERT INTO amigo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100"/>
              <a:buFont typeface="Calibri"/>
              <a:buNone/>
            </a:pPr>
            <a:r>
              <a:rPr b="0" i="0" lang="pt-BR" sz="11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(nome, apelido, email) VALUES (...)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2560320" y="1188720"/>
            <a:ext cx="1920240" cy="3108960"/>
          </a:xfrm>
          <a:prstGeom prst="roundRect">
            <a:avLst>
              <a:gd fmla="val 3810" name="adj"/>
            </a:avLst>
          </a:prstGeom>
          <a:solidFill>
            <a:srgbClr val="E0F2F1"/>
          </a:solidFill>
          <a:ln cap="flat" cmpd="sng" w="12700">
            <a:solidFill>
              <a:srgbClr val="E0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3"/>
          <p:cNvSpPr/>
          <p:nvPr/>
        </p:nvSpPr>
        <p:spPr>
          <a:xfrm>
            <a:off x="3154680" y="1325880"/>
            <a:ext cx="731520" cy="731520"/>
          </a:xfrm>
          <a:prstGeom prst="ellipse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/>
        </p:nvSpPr>
        <p:spPr>
          <a:xfrm>
            <a:off x="3154680" y="13258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pt-BR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3"/>
          <p:cNvSpPr txBox="1"/>
          <p:nvPr/>
        </p:nvSpPr>
        <p:spPr>
          <a:xfrm>
            <a:off x="2651760" y="219456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Read / Listar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3"/>
          <p:cNvSpPr txBox="1"/>
          <p:nvPr/>
        </p:nvSpPr>
        <p:spPr>
          <a:xfrm>
            <a:off x="2651760" y="260604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688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009688"/>
                </a:solidFill>
                <a:latin typeface="Calibri"/>
                <a:ea typeface="Calibri"/>
                <a:cs typeface="Calibri"/>
                <a:sym typeface="Calibri"/>
              </a:rPr>
              <a:t>listar.php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3"/>
          <p:cNvSpPr txBox="1"/>
          <p:nvPr/>
        </p:nvSpPr>
        <p:spPr>
          <a:xfrm>
            <a:off x="2651760" y="3200400"/>
            <a:ext cx="1737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100"/>
              <a:buFont typeface="Calibri"/>
              <a:buNone/>
            </a:pPr>
            <a:r>
              <a:rPr b="0" i="0" lang="pt-BR" sz="11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SELECT * FROM amigo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100"/>
              <a:buFont typeface="Calibri"/>
              <a:buNone/>
            </a:pPr>
            <a:r>
              <a:rPr b="0" i="0" lang="pt-BR" sz="11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e mostra em tabela com foreach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3"/>
          <p:cNvSpPr/>
          <p:nvPr/>
        </p:nvSpPr>
        <p:spPr>
          <a:xfrm>
            <a:off x="4663440" y="1188720"/>
            <a:ext cx="1920240" cy="3108960"/>
          </a:xfrm>
          <a:prstGeom prst="roundRect">
            <a:avLst>
              <a:gd fmla="val 3810" name="adj"/>
            </a:avLst>
          </a:prstGeom>
          <a:solidFill>
            <a:srgbClr val="E0F2F1"/>
          </a:solidFill>
          <a:ln cap="flat" cmpd="sng" w="12700">
            <a:solidFill>
              <a:srgbClr val="E0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3"/>
          <p:cNvSpPr/>
          <p:nvPr/>
        </p:nvSpPr>
        <p:spPr>
          <a:xfrm>
            <a:off x="5257800" y="1325880"/>
            <a:ext cx="731520" cy="731520"/>
          </a:xfrm>
          <a:prstGeom prst="ellipse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5257800" y="13258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pt-BR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3"/>
          <p:cNvSpPr txBox="1"/>
          <p:nvPr/>
        </p:nvSpPr>
        <p:spPr>
          <a:xfrm>
            <a:off x="4754880" y="219456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Update / Atualizar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3"/>
          <p:cNvSpPr txBox="1"/>
          <p:nvPr/>
        </p:nvSpPr>
        <p:spPr>
          <a:xfrm>
            <a:off x="4754880" y="260604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688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009688"/>
                </a:solidFill>
                <a:latin typeface="Calibri"/>
                <a:ea typeface="Calibri"/>
                <a:cs typeface="Calibri"/>
                <a:sym typeface="Calibri"/>
              </a:rPr>
              <a:t>atualizar.php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688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009688"/>
                </a:solidFill>
                <a:latin typeface="Calibri"/>
                <a:ea typeface="Calibri"/>
                <a:cs typeface="Calibri"/>
                <a:sym typeface="Calibri"/>
              </a:rPr>
              <a:t>atualizarAction.php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 txBox="1"/>
          <p:nvPr/>
        </p:nvSpPr>
        <p:spPr>
          <a:xfrm>
            <a:off x="4754880" y="3200400"/>
            <a:ext cx="1737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100"/>
              <a:buFont typeface="Calibri"/>
              <a:buNone/>
            </a:pPr>
            <a:r>
              <a:rPr b="0" i="0" lang="pt-BR" sz="11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UPDATE amigo SET nome, apelido, email WHERE idamigo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6766560" y="1188720"/>
            <a:ext cx="1920240" cy="3108960"/>
          </a:xfrm>
          <a:prstGeom prst="roundRect">
            <a:avLst>
              <a:gd fmla="val 3810" name="adj"/>
            </a:avLst>
          </a:prstGeom>
          <a:solidFill>
            <a:srgbClr val="E0F2F1"/>
          </a:solidFill>
          <a:ln cap="flat" cmpd="sng" w="12700">
            <a:solidFill>
              <a:srgbClr val="E0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/>
          <p:nvPr/>
        </p:nvSpPr>
        <p:spPr>
          <a:xfrm>
            <a:off x="7360920" y="1325880"/>
            <a:ext cx="731520" cy="731520"/>
          </a:xfrm>
          <a:prstGeom prst="ellipse">
            <a:avLst/>
          </a:prstGeom>
          <a:solidFill>
            <a:srgbClr val="C62828"/>
          </a:solidFill>
          <a:ln cap="flat" cmpd="sng" w="1270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7360920" y="13258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pt-BR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 txBox="1"/>
          <p:nvPr/>
        </p:nvSpPr>
        <p:spPr>
          <a:xfrm>
            <a:off x="6858000" y="219456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Delete / Excluir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 txBox="1"/>
          <p:nvPr/>
        </p:nvSpPr>
        <p:spPr>
          <a:xfrm>
            <a:off x="6858000" y="260604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excluir.php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excluirAction.php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 txBox="1"/>
          <p:nvPr/>
        </p:nvSpPr>
        <p:spPr>
          <a:xfrm>
            <a:off x="6858000" y="3200400"/>
            <a:ext cx="1737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100"/>
              <a:buFont typeface="Calibri"/>
              <a:buNone/>
            </a:pPr>
            <a:r>
              <a:rPr b="0" i="0" lang="pt-BR" sz="11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DELETE FROM amigo WHERE idamigo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alibri"/>
              <a:buNone/>
            </a:pPr>
            <a:r>
              <a:rPr b="0" i="0" lang="pt-BR" sz="12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Em listar.php, os ícones de atualizar e excluir levam os dados do amigo para a próxima página pela URL (GET). Todas as páginas começam com verificarAcesso.php.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4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3200"/>
              <a:buFont typeface="Calibri"/>
              <a:buNone/>
            </a:pPr>
            <a:r>
              <a:rPr b="1" i="0" lang="pt-BR" sz="32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Cookie x Session e hospedagem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4"/>
          <p:cNvSpPr/>
          <p:nvPr/>
        </p:nvSpPr>
        <p:spPr>
          <a:xfrm>
            <a:off x="457200" y="1097280"/>
            <a:ext cx="4023360" cy="2103120"/>
          </a:xfrm>
          <a:prstGeom prst="roundRect">
            <a:avLst>
              <a:gd fmla="val 3478" name="adj"/>
            </a:avLst>
          </a:prstGeom>
          <a:solidFill>
            <a:srgbClr val="E0F2F1"/>
          </a:solidFill>
          <a:ln cap="flat" cmpd="sng" w="12700">
            <a:solidFill>
              <a:srgbClr val="E0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4"/>
          <p:cNvSpPr/>
          <p:nvPr/>
        </p:nvSpPr>
        <p:spPr>
          <a:xfrm>
            <a:off x="4663440" y="1097280"/>
            <a:ext cx="4023360" cy="2103120"/>
          </a:xfrm>
          <a:prstGeom prst="roundRect">
            <a:avLst>
              <a:gd fmla="val 3478" name="adj"/>
            </a:avLst>
          </a:prstGeom>
          <a:solidFill>
            <a:srgbClr val="E0F2F1"/>
          </a:solidFill>
          <a:ln cap="flat" cmpd="sng" w="12700">
            <a:solidFill>
              <a:srgbClr val="E0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4"/>
          <p:cNvSpPr txBox="1"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1600"/>
              <a:buFont typeface="Calibri"/>
              <a:buNone/>
            </a:pPr>
            <a:r>
              <a:rPr b="1" i="0" lang="pt-BR" sz="16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Session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4"/>
          <p:cNvSpPr txBox="1"/>
          <p:nvPr/>
        </p:nvSpPr>
        <p:spPr>
          <a:xfrm>
            <a:off x="640080" y="1600200"/>
            <a:ext cx="36576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alibri"/>
              <a:buChar char="•"/>
            </a:pPr>
            <a:r>
              <a:rPr b="0" i="0" lang="pt-BR" sz="12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Dados do usuário ficam no servidor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alibri"/>
              <a:buChar char="•"/>
            </a:pPr>
            <a:r>
              <a:rPr b="0" i="0" lang="pt-BR" sz="12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Disponíveis em todas as páginas durante o acesso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alibri"/>
              <a:buChar char="•"/>
            </a:pPr>
            <a:r>
              <a:rPr b="0" i="0" lang="pt-BR" sz="12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Usada no projeto para o login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4"/>
          <p:cNvSpPr txBox="1"/>
          <p:nvPr/>
        </p:nvSpPr>
        <p:spPr>
          <a:xfrm>
            <a:off x="4846320" y="11887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1600"/>
              <a:buFont typeface="Calibri"/>
              <a:buNone/>
            </a:pPr>
            <a:r>
              <a:rPr b="1" i="0" lang="pt-BR" sz="16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Cookie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4"/>
          <p:cNvSpPr txBox="1"/>
          <p:nvPr/>
        </p:nvSpPr>
        <p:spPr>
          <a:xfrm>
            <a:off x="4846320" y="1600200"/>
            <a:ext cx="36576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alibri"/>
              <a:buChar char="•"/>
            </a:pPr>
            <a:r>
              <a:rPr b="0" i="0" lang="pt-BR" sz="12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Dados salvos em arquivo de texto no computador do usuário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alibri"/>
              <a:buChar char="•"/>
            </a:pPr>
            <a:r>
              <a:rPr b="0" i="0" lang="pt-BR" sz="12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setcookie('usuario', 'gabi', time() + 24*3600) dura 1 dia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4"/>
          <p:cNvSpPr/>
          <p:nvPr/>
        </p:nvSpPr>
        <p:spPr>
          <a:xfrm>
            <a:off x="457200" y="3429000"/>
            <a:ext cx="8229600" cy="1005840"/>
          </a:xfrm>
          <a:prstGeom prst="roundRect">
            <a:avLst>
              <a:gd fmla="val 7273" name="adj"/>
            </a:avLst>
          </a:prstGeom>
          <a:solidFill>
            <a:srgbClr val="004D40"/>
          </a:solidFill>
          <a:ln cap="flat" cmpd="sng" w="12700">
            <a:solidFill>
              <a:srgbClr val="004D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640080" y="352044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pt-BR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Hospedagem e domínio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4"/>
          <p:cNvSpPr txBox="1"/>
          <p:nvPr/>
        </p:nvSpPr>
        <p:spPr>
          <a:xfrm>
            <a:off x="640080" y="3886200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pt-BR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 acessar o site de qualquer lugar da internet são necessários um domínio (o endereço) e uma hospedagem (o servidor onde ficam os arquivos).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5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3200"/>
              <a:buFont typeface="Calibri"/>
              <a:buNone/>
            </a:pPr>
            <a:r>
              <a:rPr b="1" i="0" lang="pt-BR" sz="32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O que aprendi e melhorias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457200" y="1188720"/>
            <a:ext cx="4023360" cy="3017520"/>
          </a:xfrm>
          <a:prstGeom prst="roundRect">
            <a:avLst>
              <a:gd fmla="val 2424" name="adj"/>
            </a:avLst>
          </a:prstGeom>
          <a:solidFill>
            <a:srgbClr val="E0F2F1"/>
          </a:solidFill>
          <a:ln cap="flat" cmpd="sng" w="12700">
            <a:solidFill>
              <a:srgbClr val="E0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5"/>
          <p:cNvSpPr/>
          <p:nvPr/>
        </p:nvSpPr>
        <p:spPr>
          <a:xfrm>
            <a:off x="4663440" y="1188720"/>
            <a:ext cx="4023360" cy="3017520"/>
          </a:xfrm>
          <a:prstGeom prst="roundRect">
            <a:avLst>
              <a:gd fmla="val 2424" name="adj"/>
            </a:avLst>
          </a:prstGeom>
          <a:solidFill>
            <a:srgbClr val="E0F2F1"/>
          </a:solidFill>
          <a:ln cap="flat" cmpd="sng" w="12700">
            <a:solidFill>
              <a:srgbClr val="E0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5"/>
          <p:cNvSpPr txBox="1"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1600"/>
              <a:buFont typeface="Calibri"/>
              <a:buNone/>
            </a:pPr>
            <a:r>
              <a:rPr b="1" i="0" lang="pt-BR" sz="16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Aprendizados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5"/>
          <p:cNvSpPr txBox="1"/>
          <p:nvPr/>
        </p:nvSpPr>
        <p:spPr>
          <a:xfrm>
            <a:off x="640080" y="1737360"/>
            <a:ext cx="36576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alibri"/>
              <a:buChar char="•"/>
            </a:pPr>
            <a:r>
              <a:rPr b="0" i="0" lang="pt-BR" sz="12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require_once evita código repetido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alibri"/>
              <a:buChar char="•"/>
            </a:pPr>
            <a:r>
              <a:rPr b="0" i="0" lang="pt-BR" sz="12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Sessão protege páginas e controla o login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alibri"/>
              <a:buChar char="•"/>
            </a:pPr>
            <a:r>
              <a:rPr b="0" i="0" lang="pt-BR" sz="12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Logout encerra a sessão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alibri"/>
              <a:buChar char="•"/>
            </a:pPr>
            <a:r>
              <a:rPr b="0" i="0" lang="pt-BR" sz="12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Cada arquivo tem uma função clara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 txBox="1"/>
          <p:nvPr/>
        </p:nvSpPr>
        <p:spPr>
          <a:xfrm>
            <a:off x="4846320" y="12801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1600"/>
              <a:buFont typeface="Calibri"/>
              <a:buNone/>
            </a:pPr>
            <a:r>
              <a:rPr b="1" i="0" lang="pt-BR" sz="16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Melhorias possíveis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5"/>
          <p:cNvSpPr txBox="1"/>
          <p:nvPr/>
        </p:nvSpPr>
        <p:spPr>
          <a:xfrm>
            <a:off x="4846320" y="1737360"/>
            <a:ext cx="36576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alibri"/>
              <a:buChar char="•"/>
            </a:pPr>
            <a:r>
              <a:rPr b="0" i="0" lang="pt-BR" sz="12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Guardar a senha com hash (password_hash) em vez de texto puro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alibri"/>
              <a:buChar char="•"/>
            </a:pPr>
            <a:r>
              <a:rPr b="0" i="0" lang="pt-BR" sz="12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Usar consultas preparadas contra SQL injection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alibri"/>
              <a:buChar char="•"/>
            </a:pPr>
            <a:r>
              <a:rPr b="0" i="0" lang="pt-BR" sz="12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Chamar session_start() antes de qualquer HTML no loginAction.php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6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3200"/>
              <a:buFont typeface="Calibri"/>
              <a:buNone/>
            </a:pPr>
            <a:r>
              <a:rPr b="1" i="0" lang="pt-BR" sz="32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Fluxo do sistema, passo a passo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6"/>
          <p:cNvSpPr/>
          <p:nvPr/>
        </p:nvSpPr>
        <p:spPr>
          <a:xfrm>
            <a:off x="457200" y="1051560"/>
            <a:ext cx="1737360" cy="960120"/>
          </a:xfrm>
          <a:prstGeom prst="roundRect">
            <a:avLst>
              <a:gd fmla="val 7619" name="adj"/>
            </a:avLst>
          </a:prstGeom>
          <a:solidFill>
            <a:srgbClr val="E0F2F1"/>
          </a:solidFill>
          <a:ln cap="flat" cmpd="sng" w="15875">
            <a:solidFill>
              <a:srgbClr val="E0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6"/>
          <p:cNvSpPr/>
          <p:nvPr/>
        </p:nvSpPr>
        <p:spPr>
          <a:xfrm>
            <a:off x="530352" y="1124712"/>
            <a:ext cx="274320" cy="274320"/>
          </a:xfrm>
          <a:prstGeom prst="ellipse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6"/>
          <p:cNvSpPr txBox="1"/>
          <p:nvPr/>
        </p:nvSpPr>
        <p:spPr>
          <a:xfrm>
            <a:off x="530352" y="112471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6"/>
          <p:cNvSpPr txBox="1"/>
          <p:nvPr/>
        </p:nvSpPr>
        <p:spPr>
          <a:xfrm>
            <a:off x="868680" y="1124712"/>
            <a:ext cx="12618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index.php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6"/>
          <p:cNvSpPr txBox="1"/>
          <p:nvPr/>
        </p:nvSpPr>
        <p:spPr>
          <a:xfrm>
            <a:off x="566928" y="1435608"/>
            <a:ext cx="1554480" cy="521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000"/>
              <a:buFont typeface="Calibri"/>
              <a:buNone/>
            </a:pPr>
            <a:r>
              <a:rPr b="0" i="0" lang="pt-BR" sz="10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Usuário digita nome e senha e clica em Entrar (POST).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6"/>
          <p:cNvSpPr/>
          <p:nvPr/>
        </p:nvSpPr>
        <p:spPr>
          <a:xfrm>
            <a:off x="2560320" y="1051560"/>
            <a:ext cx="1737360" cy="960120"/>
          </a:xfrm>
          <a:prstGeom prst="roundRect">
            <a:avLst>
              <a:gd fmla="val 7619" name="adj"/>
            </a:avLst>
          </a:prstGeom>
          <a:solidFill>
            <a:srgbClr val="E0F2F1"/>
          </a:solidFill>
          <a:ln cap="flat" cmpd="sng" w="15875">
            <a:solidFill>
              <a:srgbClr val="E0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6"/>
          <p:cNvSpPr/>
          <p:nvPr/>
        </p:nvSpPr>
        <p:spPr>
          <a:xfrm>
            <a:off x="2633472" y="1124712"/>
            <a:ext cx="274320" cy="274320"/>
          </a:xfrm>
          <a:prstGeom prst="ellipse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6"/>
          <p:cNvSpPr txBox="1"/>
          <p:nvPr/>
        </p:nvSpPr>
        <p:spPr>
          <a:xfrm>
            <a:off x="2633472" y="112471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6"/>
          <p:cNvSpPr txBox="1"/>
          <p:nvPr/>
        </p:nvSpPr>
        <p:spPr>
          <a:xfrm>
            <a:off x="2971800" y="1124712"/>
            <a:ext cx="12618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loginAction.php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6"/>
          <p:cNvSpPr txBox="1"/>
          <p:nvPr/>
        </p:nvSpPr>
        <p:spPr>
          <a:xfrm>
            <a:off x="2670048" y="1435608"/>
            <a:ext cx="1554480" cy="521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000"/>
              <a:buFont typeface="Calibri"/>
              <a:buNone/>
            </a:pPr>
            <a:r>
              <a:rPr b="0" i="0" lang="pt-BR" sz="10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Conecta pelo conexaoBD e faz SELECT na tabela usuario.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6"/>
          <p:cNvSpPr/>
          <p:nvPr/>
        </p:nvSpPr>
        <p:spPr>
          <a:xfrm>
            <a:off x="4572000" y="1005840"/>
            <a:ext cx="1828800" cy="1051560"/>
          </a:xfrm>
          <a:prstGeom prst="diamond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6"/>
          <p:cNvSpPr txBox="1"/>
          <p:nvPr/>
        </p:nvSpPr>
        <p:spPr>
          <a:xfrm>
            <a:off x="4892040" y="1188720"/>
            <a:ext cx="1188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pt-BR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Usuário existe e senha confere?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6"/>
          <p:cNvSpPr/>
          <p:nvPr/>
        </p:nvSpPr>
        <p:spPr>
          <a:xfrm>
            <a:off x="6949440" y="1051560"/>
            <a:ext cx="1737360" cy="960120"/>
          </a:xfrm>
          <a:prstGeom prst="roundRect">
            <a:avLst>
              <a:gd fmla="val 7619" name="adj"/>
            </a:avLst>
          </a:prstGeom>
          <a:solidFill>
            <a:srgbClr val="004D40"/>
          </a:solidFill>
          <a:ln cap="flat" cmpd="sng" w="15875">
            <a:solidFill>
              <a:srgbClr val="004D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6"/>
          <p:cNvSpPr/>
          <p:nvPr/>
        </p:nvSpPr>
        <p:spPr>
          <a:xfrm>
            <a:off x="7022592" y="1124712"/>
            <a:ext cx="274320" cy="274320"/>
          </a:xfrm>
          <a:prstGeom prst="ellipse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6"/>
          <p:cNvSpPr txBox="1"/>
          <p:nvPr/>
        </p:nvSpPr>
        <p:spPr>
          <a:xfrm>
            <a:off x="7022592" y="112471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6"/>
          <p:cNvSpPr txBox="1"/>
          <p:nvPr/>
        </p:nvSpPr>
        <p:spPr>
          <a:xfrm>
            <a:off x="7360920" y="1124712"/>
            <a:ext cx="12618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Sessão criada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6"/>
          <p:cNvSpPr txBox="1"/>
          <p:nvPr/>
        </p:nvSpPr>
        <p:spPr>
          <a:xfrm>
            <a:off x="7059168" y="1435608"/>
            <a:ext cx="1554480" cy="521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$_SESSION['logado'] = $nome e link para principal.php.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5" name="Google Shape;285;p26"/>
          <p:cNvCxnSpPr/>
          <p:nvPr/>
        </p:nvCxnSpPr>
        <p:spPr>
          <a:xfrm>
            <a:off x="2194560" y="1531620"/>
            <a:ext cx="365760" cy="0"/>
          </a:xfrm>
          <a:prstGeom prst="straightConnector1">
            <a:avLst/>
          </a:prstGeom>
          <a:noFill/>
          <a:ln cap="flat" cmpd="sng" w="19050">
            <a:solidFill>
              <a:srgbClr val="455A6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6" name="Google Shape;286;p26"/>
          <p:cNvCxnSpPr/>
          <p:nvPr/>
        </p:nvCxnSpPr>
        <p:spPr>
          <a:xfrm>
            <a:off x="4297680" y="1531620"/>
            <a:ext cx="274320" cy="0"/>
          </a:xfrm>
          <a:prstGeom prst="straightConnector1">
            <a:avLst/>
          </a:prstGeom>
          <a:noFill/>
          <a:ln cap="flat" cmpd="sng" w="19050">
            <a:solidFill>
              <a:srgbClr val="455A6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7" name="Google Shape;287;p26"/>
          <p:cNvCxnSpPr/>
          <p:nvPr/>
        </p:nvCxnSpPr>
        <p:spPr>
          <a:xfrm>
            <a:off x="6400800" y="1531620"/>
            <a:ext cx="548640" cy="0"/>
          </a:xfrm>
          <a:prstGeom prst="straightConnector1">
            <a:avLst/>
          </a:prstGeom>
          <a:noFill/>
          <a:ln cap="flat" cmpd="sng" w="19050">
            <a:solidFill>
              <a:srgbClr val="455A6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8" name="Google Shape;288;p26"/>
          <p:cNvSpPr txBox="1"/>
          <p:nvPr/>
        </p:nvSpPr>
        <p:spPr>
          <a:xfrm>
            <a:off x="6446520" y="128016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688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009688"/>
                </a:solidFill>
                <a:latin typeface="Calibri"/>
                <a:ea typeface="Calibri"/>
                <a:cs typeface="Calibri"/>
                <a:sym typeface="Calibri"/>
              </a:rPr>
              <a:t>Sim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9" name="Google Shape;289;p26"/>
          <p:cNvCxnSpPr/>
          <p:nvPr/>
        </p:nvCxnSpPr>
        <p:spPr>
          <a:xfrm>
            <a:off x="5486400" y="2057400"/>
            <a:ext cx="0" cy="411480"/>
          </a:xfrm>
          <a:prstGeom prst="straightConnector1">
            <a:avLst/>
          </a:prstGeom>
          <a:noFill/>
          <a:ln cap="flat" cmpd="sng" w="19050">
            <a:solidFill>
              <a:srgbClr val="455A6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0" name="Google Shape;290;p26"/>
          <p:cNvSpPr txBox="1"/>
          <p:nvPr/>
        </p:nvSpPr>
        <p:spPr>
          <a:xfrm>
            <a:off x="5577840" y="21031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Não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6"/>
          <p:cNvSpPr/>
          <p:nvPr/>
        </p:nvSpPr>
        <p:spPr>
          <a:xfrm>
            <a:off x="4572000" y="2468880"/>
            <a:ext cx="1828800" cy="914400"/>
          </a:xfrm>
          <a:prstGeom prst="roundRect">
            <a:avLst>
              <a:gd fmla="val 8000" name="adj"/>
            </a:avLst>
          </a:prstGeom>
          <a:solidFill>
            <a:srgbClr val="FFEBEE"/>
          </a:solidFill>
          <a:ln cap="flat" cmpd="sng" w="15875">
            <a:solidFill>
              <a:srgbClr val="FFEB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6"/>
          <p:cNvSpPr/>
          <p:nvPr/>
        </p:nvSpPr>
        <p:spPr>
          <a:xfrm>
            <a:off x="4645152" y="2542032"/>
            <a:ext cx="274320" cy="274320"/>
          </a:xfrm>
          <a:prstGeom prst="ellipse">
            <a:avLst/>
          </a:prstGeom>
          <a:solidFill>
            <a:srgbClr val="C62828"/>
          </a:solidFill>
          <a:ln cap="flat" cmpd="sng" w="1270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6"/>
          <p:cNvSpPr txBox="1"/>
          <p:nvPr/>
        </p:nvSpPr>
        <p:spPr>
          <a:xfrm>
            <a:off x="4645152" y="254203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6"/>
          <p:cNvSpPr txBox="1"/>
          <p:nvPr/>
        </p:nvSpPr>
        <p:spPr>
          <a:xfrm>
            <a:off x="4983480" y="2542032"/>
            <a:ext cx="13533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Login Inválido!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6"/>
          <p:cNvSpPr txBox="1"/>
          <p:nvPr/>
        </p:nvSpPr>
        <p:spPr>
          <a:xfrm>
            <a:off x="4681728" y="2852928"/>
            <a:ext cx="1645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000"/>
              <a:buFont typeface="Calibri"/>
              <a:buNone/>
            </a:pPr>
            <a:r>
              <a:rPr b="0" i="0" lang="pt-BR" sz="10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Mostra a mensagem e o link leva de volta ao index.php.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6" name="Google Shape;296;p26"/>
          <p:cNvCxnSpPr/>
          <p:nvPr/>
        </p:nvCxnSpPr>
        <p:spPr>
          <a:xfrm rot="10800000">
            <a:off x="1325880" y="2926080"/>
            <a:ext cx="3246120" cy="0"/>
          </a:xfrm>
          <a:prstGeom prst="straightConnector1">
            <a:avLst/>
          </a:prstGeom>
          <a:noFill/>
          <a:ln cap="flat" cmpd="sng" w="1905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7" name="Google Shape;297;p26"/>
          <p:cNvCxnSpPr/>
          <p:nvPr/>
        </p:nvCxnSpPr>
        <p:spPr>
          <a:xfrm rot="10800000">
            <a:off x="1325880" y="2011680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455A6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8" name="Google Shape;298;p26"/>
          <p:cNvCxnSpPr/>
          <p:nvPr/>
        </p:nvCxnSpPr>
        <p:spPr>
          <a:xfrm>
            <a:off x="7818120" y="201168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455A6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9" name="Google Shape;299;p26"/>
          <p:cNvSpPr/>
          <p:nvPr/>
        </p:nvSpPr>
        <p:spPr>
          <a:xfrm>
            <a:off x="6949440" y="2468880"/>
            <a:ext cx="1737360" cy="914400"/>
          </a:xfrm>
          <a:prstGeom prst="roundRect">
            <a:avLst>
              <a:gd fmla="val 8000" name="adj"/>
            </a:avLst>
          </a:prstGeom>
          <a:solidFill>
            <a:srgbClr val="E0F2F1"/>
          </a:solidFill>
          <a:ln cap="flat" cmpd="sng" w="15875">
            <a:solidFill>
              <a:srgbClr val="E0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6"/>
          <p:cNvSpPr/>
          <p:nvPr/>
        </p:nvSpPr>
        <p:spPr>
          <a:xfrm>
            <a:off x="7022592" y="2542032"/>
            <a:ext cx="274320" cy="274320"/>
          </a:xfrm>
          <a:prstGeom prst="ellipse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6"/>
          <p:cNvSpPr txBox="1"/>
          <p:nvPr/>
        </p:nvSpPr>
        <p:spPr>
          <a:xfrm>
            <a:off x="7022592" y="254203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6"/>
          <p:cNvSpPr txBox="1"/>
          <p:nvPr/>
        </p:nvSpPr>
        <p:spPr>
          <a:xfrm>
            <a:off x="7360920" y="2542032"/>
            <a:ext cx="12618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principal.php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6"/>
          <p:cNvSpPr txBox="1"/>
          <p:nvPr/>
        </p:nvSpPr>
        <p:spPr>
          <a:xfrm>
            <a:off x="7059168" y="2852928"/>
            <a:ext cx="1554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000"/>
              <a:buFont typeface="Calibri"/>
              <a:buNone/>
            </a:pPr>
            <a:r>
              <a:rPr b="0" i="0" lang="pt-BR" sz="10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verificarAcesso.php libera o menu: Adicionar ou Listar.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4" name="Google Shape;304;p26"/>
          <p:cNvCxnSpPr/>
          <p:nvPr/>
        </p:nvCxnSpPr>
        <p:spPr>
          <a:xfrm>
            <a:off x="7818120" y="3383280"/>
            <a:ext cx="0" cy="411480"/>
          </a:xfrm>
          <a:prstGeom prst="straightConnector1">
            <a:avLst/>
          </a:prstGeom>
          <a:noFill/>
          <a:ln cap="flat" cmpd="sng" w="19050">
            <a:solidFill>
              <a:srgbClr val="455A6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5" name="Google Shape;305;p26"/>
          <p:cNvSpPr/>
          <p:nvPr/>
        </p:nvSpPr>
        <p:spPr>
          <a:xfrm>
            <a:off x="6949440" y="3794760"/>
            <a:ext cx="1737360" cy="1051560"/>
          </a:xfrm>
          <a:prstGeom prst="roundRect">
            <a:avLst>
              <a:gd fmla="val 6957" name="adj"/>
            </a:avLst>
          </a:prstGeom>
          <a:solidFill>
            <a:srgbClr val="E0F2F1"/>
          </a:solidFill>
          <a:ln cap="flat" cmpd="sng" w="15875">
            <a:solidFill>
              <a:srgbClr val="E0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6"/>
          <p:cNvSpPr/>
          <p:nvPr/>
        </p:nvSpPr>
        <p:spPr>
          <a:xfrm>
            <a:off x="7022592" y="3867912"/>
            <a:ext cx="274320" cy="274320"/>
          </a:xfrm>
          <a:prstGeom prst="ellipse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6"/>
          <p:cNvSpPr txBox="1"/>
          <p:nvPr/>
        </p:nvSpPr>
        <p:spPr>
          <a:xfrm>
            <a:off x="7022592" y="386791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6"/>
          <p:cNvSpPr txBox="1"/>
          <p:nvPr/>
        </p:nvSpPr>
        <p:spPr>
          <a:xfrm>
            <a:off x="7360920" y="3867912"/>
            <a:ext cx="12618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CRUD de amigos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6"/>
          <p:cNvSpPr txBox="1"/>
          <p:nvPr/>
        </p:nvSpPr>
        <p:spPr>
          <a:xfrm>
            <a:off x="7059168" y="4178808"/>
            <a:ext cx="1554480" cy="612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000"/>
              <a:buFont typeface="Calibri"/>
              <a:buNone/>
            </a:pPr>
            <a:r>
              <a:rPr b="0" i="0" lang="pt-BR" sz="10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cadastro, listar, atualizar e excluir (INSERT, SELECT, UPDATE, DELETE).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0" name="Google Shape;310;p26"/>
          <p:cNvCxnSpPr/>
          <p:nvPr/>
        </p:nvCxnSpPr>
        <p:spPr>
          <a:xfrm rot="10800000">
            <a:off x="6492240" y="4320540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455A6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1" name="Google Shape;311;p26"/>
          <p:cNvSpPr/>
          <p:nvPr/>
        </p:nvSpPr>
        <p:spPr>
          <a:xfrm>
            <a:off x="4572000" y="3794760"/>
            <a:ext cx="1920240" cy="1051560"/>
          </a:xfrm>
          <a:prstGeom prst="roundRect">
            <a:avLst>
              <a:gd fmla="val 6957" name="adj"/>
            </a:avLst>
          </a:prstGeom>
          <a:solidFill>
            <a:srgbClr val="E0F2F1"/>
          </a:solidFill>
          <a:ln cap="flat" cmpd="sng" w="15875">
            <a:solidFill>
              <a:srgbClr val="E0F2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6"/>
          <p:cNvSpPr/>
          <p:nvPr/>
        </p:nvSpPr>
        <p:spPr>
          <a:xfrm>
            <a:off x="4645152" y="3867912"/>
            <a:ext cx="274320" cy="274320"/>
          </a:xfrm>
          <a:prstGeom prst="ellipse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6"/>
          <p:cNvSpPr txBox="1"/>
          <p:nvPr/>
        </p:nvSpPr>
        <p:spPr>
          <a:xfrm>
            <a:off x="4645152" y="386791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6"/>
          <p:cNvSpPr txBox="1"/>
          <p:nvPr/>
        </p:nvSpPr>
        <p:spPr>
          <a:xfrm>
            <a:off x="4983480" y="3867912"/>
            <a:ext cx="14447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0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004D40"/>
                </a:solidFill>
                <a:latin typeface="Calibri"/>
                <a:ea typeface="Calibri"/>
                <a:cs typeface="Calibri"/>
                <a:sym typeface="Calibri"/>
              </a:rPr>
              <a:t>Logout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6"/>
          <p:cNvSpPr txBox="1"/>
          <p:nvPr/>
        </p:nvSpPr>
        <p:spPr>
          <a:xfrm>
            <a:off x="4681728" y="4178808"/>
            <a:ext cx="1737360" cy="612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000"/>
              <a:buFont typeface="Calibri"/>
              <a:buNone/>
            </a:pPr>
            <a:r>
              <a:rPr b="0" i="0" lang="pt-BR" sz="10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logoutAction.php faz unset da sessão e volta ao index.php.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6"/>
          <p:cNvSpPr/>
          <p:nvPr/>
        </p:nvSpPr>
        <p:spPr>
          <a:xfrm>
            <a:off x="457200" y="3794760"/>
            <a:ext cx="3749040" cy="1051560"/>
          </a:xfrm>
          <a:prstGeom prst="roundRect">
            <a:avLst>
              <a:gd fmla="val 6957" name="adj"/>
            </a:avLst>
          </a:prstGeom>
          <a:solidFill>
            <a:srgbClr val="FFEBEE"/>
          </a:solidFill>
          <a:ln cap="flat" cmpd="sng" w="15875">
            <a:solidFill>
              <a:srgbClr val="FFEB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6"/>
          <p:cNvSpPr/>
          <p:nvPr/>
        </p:nvSpPr>
        <p:spPr>
          <a:xfrm>
            <a:off x="530352" y="3867912"/>
            <a:ext cx="274320" cy="274320"/>
          </a:xfrm>
          <a:prstGeom prst="ellipse">
            <a:avLst/>
          </a:prstGeom>
          <a:solidFill>
            <a:srgbClr val="C62828"/>
          </a:solidFill>
          <a:ln cap="flat" cmpd="sng" w="1270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6"/>
          <p:cNvSpPr txBox="1"/>
          <p:nvPr/>
        </p:nvSpPr>
        <p:spPr>
          <a:xfrm>
            <a:off x="530352" y="386791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6"/>
          <p:cNvSpPr txBox="1"/>
          <p:nvPr/>
        </p:nvSpPr>
        <p:spPr>
          <a:xfrm>
            <a:off x="868680" y="3867912"/>
            <a:ext cx="3273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Acesso direto pela URL, sem login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6"/>
          <p:cNvSpPr txBox="1"/>
          <p:nvPr/>
        </p:nvSpPr>
        <p:spPr>
          <a:xfrm>
            <a:off x="566928" y="4178808"/>
            <a:ext cx="3566160" cy="612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000"/>
              <a:buFont typeface="Calibri"/>
              <a:buNone/>
            </a:pPr>
            <a:r>
              <a:rPr b="0" i="0" lang="pt-BR" sz="1000" u="none" cap="none" strike="noStrike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Qualquer página protegida chama verificarAcesso.php: sem "logado", header leva ao acessoNegado.php, com link para o index.php.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